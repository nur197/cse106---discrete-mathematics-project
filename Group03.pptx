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9105900"/>
  <p:notesSz cx="6858000" cy="9144000"/>
  <p:embeddedFontLst>
    <p:embeddedFont>
      <p:font typeface="Canva Sans Bold" panose="020B0604020202020204" charset="0"/>
      <p:regular r:id="rId13"/>
    </p:embeddedFont>
    <p:embeddedFont>
      <p:font typeface="Fraunces Bold" panose="020B0604020202020204" charset="0"/>
      <p:regular r:id="rId14"/>
    </p:embeddedFont>
    <p:embeddedFont>
      <p:font typeface="Open Sans 1" panose="020B0604020202020204" charset="0"/>
      <p:regular r:id="rId15"/>
    </p:embeddedFont>
    <p:embeddedFont>
      <p:font typeface="Open Sans 1 Bold" panose="020B0604020202020204" charset="0"/>
      <p:regular r:id="rId16"/>
    </p:embeddedFont>
    <p:embeddedFont>
      <p:font typeface="Open Sans 2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-228" y="-16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39947"/>
            <a:ext cx="4286250" cy="6438643"/>
          </a:xfrm>
          <a:custGeom>
            <a:avLst/>
            <a:gdLst/>
            <a:ahLst/>
            <a:cxnLst/>
            <a:rect l="l" t="t" r="r" b="b"/>
            <a:pathLst>
              <a:path w="4286250" h="6438643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t="-3" r="-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86325" y="2810702"/>
            <a:ext cx="5191592" cy="212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9"/>
              </a:lnSpc>
            </a:pPr>
            <a:r>
              <a:rPr lang="en-US" sz="3375" b="1">
                <a:solidFill>
                  <a:srgbClr val="438951"/>
                </a:solidFill>
                <a:latin typeface="Fraunces Bold"/>
                <a:ea typeface="Fraunces Bold"/>
                <a:cs typeface="Fraunces Bold"/>
                <a:sym typeface="Fraunces Bold"/>
              </a:rPr>
              <a:t>CSE106: DISCRETE MATHEMATICS </a:t>
            </a:r>
          </a:p>
          <a:p>
            <a:pPr algn="l">
              <a:lnSpc>
                <a:spcPts val="4239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Mini Project 3 - Directed Graph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02017" y="5346228"/>
            <a:ext cx="43720" cy="37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98827" y="5184303"/>
            <a:ext cx="1140781" cy="25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07201" y="5460528"/>
            <a:ext cx="2959675" cy="25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SM TanzimHassan(2025-1-60-184)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52267" y="5736753"/>
            <a:ext cx="3275828" cy="53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Sharmin Jahan Nijhum (2025-1-60-184) Nur Mohammad Mahi (2025-1-60-197)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1136740"/>
            <a:ext cx="11556997" cy="6842122"/>
            <a:chOff x="0" y="0"/>
            <a:chExt cx="11557000" cy="68421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6715125"/>
            </a:xfrm>
            <a:custGeom>
              <a:avLst/>
              <a:gdLst/>
              <a:ahLst/>
              <a:cxnLst/>
              <a:rect l="l" t="t" r="r" b="b"/>
              <a:pathLst>
                <a:path w="11430000" h="6715125">
                  <a:moveTo>
                    <a:pt x="0" y="0"/>
                  </a:moveTo>
                  <a:lnTo>
                    <a:pt x="0" y="6715125"/>
                  </a:lnTo>
                  <a:lnTo>
                    <a:pt x="11430000" y="6715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715125"/>
            </a:xfrm>
            <a:custGeom>
              <a:avLst/>
              <a:gdLst/>
              <a:ahLst/>
              <a:cxnLst/>
              <a:rect l="l" t="t" r="r" b="b"/>
              <a:pathLst>
                <a:path w="11430000" h="6715125">
                  <a:moveTo>
                    <a:pt x="0" y="0"/>
                  </a:moveTo>
                  <a:lnTo>
                    <a:pt x="0" y="6715125"/>
                  </a:lnTo>
                  <a:lnTo>
                    <a:pt x="11430000" y="6715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6715125"/>
            </a:xfrm>
            <a:custGeom>
              <a:avLst/>
              <a:gdLst/>
              <a:ahLst/>
              <a:cxnLst/>
              <a:rect l="l" t="t" r="r" b="b"/>
              <a:pathLst>
                <a:path w="11430000" h="6715125">
                  <a:moveTo>
                    <a:pt x="0" y="0"/>
                  </a:moveTo>
                  <a:lnTo>
                    <a:pt x="0" y="6715125"/>
                  </a:lnTo>
                  <a:lnTo>
                    <a:pt x="11430000" y="6715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E1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6715125"/>
            </a:xfrm>
            <a:custGeom>
              <a:avLst/>
              <a:gdLst/>
              <a:ahLst/>
              <a:cxnLst/>
              <a:rect l="l" t="t" r="r" b="b"/>
              <a:pathLst>
                <a:path w="11430000" h="6715125">
                  <a:moveTo>
                    <a:pt x="0" y="0"/>
                  </a:moveTo>
                  <a:lnTo>
                    <a:pt x="0" y="6715125"/>
                  </a:lnTo>
                  <a:lnTo>
                    <a:pt x="11430000" y="6715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E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6715125"/>
            </a:xfrm>
            <a:custGeom>
              <a:avLst/>
              <a:gdLst/>
              <a:ahLst/>
              <a:cxnLst/>
              <a:rect l="l" t="t" r="r" b="b"/>
              <a:pathLst>
                <a:path w="11430000" h="6715125">
                  <a:moveTo>
                    <a:pt x="0" y="0"/>
                  </a:moveTo>
                  <a:lnTo>
                    <a:pt x="0" y="6715125"/>
                  </a:lnTo>
                  <a:lnTo>
                    <a:pt x="11430000" y="6715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63575" y="1415923"/>
              <a:ext cx="390652" cy="381254"/>
            </a:xfrm>
            <a:custGeom>
              <a:avLst/>
              <a:gdLst/>
              <a:ahLst/>
              <a:cxnLst/>
              <a:rect l="l" t="t" r="r" b="b"/>
              <a:pathLst>
                <a:path w="390652" h="381254">
                  <a:moveTo>
                    <a:pt x="0" y="252603"/>
                  </a:moveTo>
                  <a:lnTo>
                    <a:pt x="0" y="128778"/>
                  </a:lnTo>
                  <a:cubicBezTo>
                    <a:pt x="0" y="120396"/>
                    <a:pt x="762" y="112014"/>
                    <a:pt x="2413" y="103632"/>
                  </a:cubicBezTo>
                  <a:cubicBezTo>
                    <a:pt x="4064" y="95250"/>
                    <a:pt x="6477" y="87249"/>
                    <a:pt x="9779" y="79502"/>
                  </a:cubicBezTo>
                  <a:cubicBezTo>
                    <a:pt x="13081" y="71755"/>
                    <a:pt x="17018" y="64262"/>
                    <a:pt x="21717" y="57277"/>
                  </a:cubicBezTo>
                  <a:cubicBezTo>
                    <a:pt x="26416" y="50292"/>
                    <a:pt x="31750" y="43815"/>
                    <a:pt x="37719" y="37719"/>
                  </a:cubicBezTo>
                  <a:cubicBezTo>
                    <a:pt x="43688" y="31623"/>
                    <a:pt x="50165" y="26416"/>
                    <a:pt x="57150" y="21717"/>
                  </a:cubicBezTo>
                  <a:cubicBezTo>
                    <a:pt x="64135" y="17018"/>
                    <a:pt x="71628" y="13081"/>
                    <a:pt x="79375" y="9779"/>
                  </a:cubicBezTo>
                  <a:cubicBezTo>
                    <a:pt x="87122" y="6477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651" y="0"/>
                  </a:cubicBezTo>
                  <a:lnTo>
                    <a:pt x="262001" y="0"/>
                  </a:lnTo>
                  <a:cubicBezTo>
                    <a:pt x="270383" y="0"/>
                    <a:pt x="278765" y="889"/>
                    <a:pt x="287147" y="2413"/>
                  </a:cubicBezTo>
                  <a:cubicBezTo>
                    <a:pt x="295529" y="3937"/>
                    <a:pt x="303530" y="6477"/>
                    <a:pt x="311277" y="9779"/>
                  </a:cubicBezTo>
                  <a:cubicBezTo>
                    <a:pt x="319024" y="13081"/>
                    <a:pt x="326517" y="17018"/>
                    <a:pt x="333502" y="21717"/>
                  </a:cubicBezTo>
                  <a:cubicBezTo>
                    <a:pt x="340487" y="26416"/>
                    <a:pt x="346964" y="31750"/>
                    <a:pt x="352933" y="37719"/>
                  </a:cubicBezTo>
                  <a:cubicBezTo>
                    <a:pt x="358902" y="43688"/>
                    <a:pt x="364236" y="50165"/>
                    <a:pt x="368935" y="57277"/>
                  </a:cubicBezTo>
                  <a:cubicBezTo>
                    <a:pt x="373634" y="64389"/>
                    <a:pt x="377571" y="71755"/>
                    <a:pt x="380873" y="79502"/>
                  </a:cubicBezTo>
                  <a:cubicBezTo>
                    <a:pt x="384175" y="87249"/>
                    <a:pt x="386588" y="95377"/>
                    <a:pt x="388239" y="103632"/>
                  </a:cubicBezTo>
                  <a:cubicBezTo>
                    <a:pt x="389890" y="111887"/>
                    <a:pt x="390652" y="120269"/>
                    <a:pt x="390652" y="128778"/>
                  </a:cubicBezTo>
                  <a:lnTo>
                    <a:pt x="390652" y="252603"/>
                  </a:lnTo>
                  <a:cubicBezTo>
                    <a:pt x="390652" y="261112"/>
                    <a:pt x="389890" y="269367"/>
                    <a:pt x="388239" y="277749"/>
                  </a:cubicBezTo>
                  <a:cubicBezTo>
                    <a:pt x="386588" y="286131"/>
                    <a:pt x="384175" y="294132"/>
                    <a:pt x="380873" y="301879"/>
                  </a:cubicBezTo>
                  <a:cubicBezTo>
                    <a:pt x="377571" y="309626"/>
                    <a:pt x="373634" y="317119"/>
                    <a:pt x="368935" y="324104"/>
                  </a:cubicBezTo>
                  <a:cubicBezTo>
                    <a:pt x="364236" y="331089"/>
                    <a:pt x="358902" y="337566"/>
                    <a:pt x="352933" y="343662"/>
                  </a:cubicBezTo>
                  <a:cubicBezTo>
                    <a:pt x="346964" y="349758"/>
                    <a:pt x="340487" y="354965"/>
                    <a:pt x="333502" y="359664"/>
                  </a:cubicBezTo>
                  <a:cubicBezTo>
                    <a:pt x="326517" y="364363"/>
                    <a:pt x="319024" y="368300"/>
                    <a:pt x="311277" y="371475"/>
                  </a:cubicBezTo>
                  <a:cubicBezTo>
                    <a:pt x="303530" y="374650"/>
                    <a:pt x="295402" y="377190"/>
                    <a:pt x="287147" y="378841"/>
                  </a:cubicBezTo>
                  <a:cubicBezTo>
                    <a:pt x="278892" y="380492"/>
                    <a:pt x="270510" y="381254"/>
                    <a:pt x="262001" y="381254"/>
                  </a:cubicBezTo>
                  <a:lnTo>
                    <a:pt x="128651" y="381254"/>
                  </a:lnTo>
                  <a:cubicBezTo>
                    <a:pt x="120269" y="381254"/>
                    <a:pt x="111887" y="380492"/>
                    <a:pt x="103505" y="378841"/>
                  </a:cubicBezTo>
                  <a:cubicBezTo>
                    <a:pt x="95123" y="377190"/>
                    <a:pt x="87122" y="374777"/>
                    <a:pt x="79375" y="371475"/>
                  </a:cubicBezTo>
                  <a:cubicBezTo>
                    <a:pt x="71628" y="368173"/>
                    <a:pt x="64135" y="364236"/>
                    <a:pt x="57150" y="359664"/>
                  </a:cubicBezTo>
                  <a:cubicBezTo>
                    <a:pt x="50165" y="355092"/>
                    <a:pt x="43688" y="349631"/>
                    <a:pt x="37719" y="343662"/>
                  </a:cubicBezTo>
                  <a:cubicBezTo>
                    <a:pt x="31750" y="337693"/>
                    <a:pt x="26416" y="331216"/>
                    <a:pt x="21717" y="324104"/>
                  </a:cubicBezTo>
                  <a:cubicBezTo>
                    <a:pt x="17018" y="316992"/>
                    <a:pt x="13081" y="309626"/>
                    <a:pt x="9779" y="301879"/>
                  </a:cubicBezTo>
                  <a:cubicBezTo>
                    <a:pt x="6477" y="294132"/>
                    <a:pt x="4064" y="286004"/>
                    <a:pt x="2413" y="277749"/>
                  </a:cubicBezTo>
                  <a:cubicBezTo>
                    <a:pt x="762" y="269494"/>
                    <a:pt x="0" y="261112"/>
                    <a:pt x="0" y="252603"/>
                  </a:cubicBezTo>
                </a:path>
              </a:pathLst>
            </a:custGeom>
            <a:solidFill>
              <a:srgbClr val="E8F3E8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575" y="2463927"/>
              <a:ext cx="390652" cy="380999"/>
            </a:xfrm>
            <a:custGeom>
              <a:avLst/>
              <a:gdLst/>
              <a:ahLst/>
              <a:cxnLst/>
              <a:rect l="l" t="t" r="r" b="b"/>
              <a:pathLst>
                <a:path w="390652" h="380999">
                  <a:moveTo>
                    <a:pt x="0" y="252349"/>
                  </a:moveTo>
                  <a:lnTo>
                    <a:pt x="0" y="128524"/>
                  </a:lnTo>
                  <a:cubicBezTo>
                    <a:pt x="0" y="120142"/>
                    <a:pt x="762" y="111760"/>
                    <a:pt x="2413" y="103378"/>
                  </a:cubicBezTo>
                  <a:cubicBezTo>
                    <a:pt x="4064" y="94996"/>
                    <a:pt x="6477" y="87122"/>
                    <a:pt x="9779" y="79248"/>
                  </a:cubicBezTo>
                  <a:cubicBezTo>
                    <a:pt x="13081" y="71374"/>
                    <a:pt x="17018" y="64008"/>
                    <a:pt x="21717" y="57023"/>
                  </a:cubicBezTo>
                  <a:cubicBezTo>
                    <a:pt x="26416" y="50038"/>
                    <a:pt x="31750" y="43561"/>
                    <a:pt x="37719" y="37592"/>
                  </a:cubicBezTo>
                  <a:cubicBezTo>
                    <a:pt x="43688" y="31623"/>
                    <a:pt x="50165" y="26289"/>
                    <a:pt x="57150" y="21590"/>
                  </a:cubicBezTo>
                  <a:cubicBezTo>
                    <a:pt x="64135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651" y="0"/>
                  </a:cubicBezTo>
                  <a:lnTo>
                    <a:pt x="262001" y="0"/>
                  </a:lnTo>
                  <a:cubicBezTo>
                    <a:pt x="270383" y="0"/>
                    <a:pt x="278765" y="889"/>
                    <a:pt x="287147" y="2413"/>
                  </a:cubicBezTo>
                  <a:cubicBezTo>
                    <a:pt x="295529" y="3937"/>
                    <a:pt x="303530" y="6477"/>
                    <a:pt x="311277" y="9779"/>
                  </a:cubicBezTo>
                  <a:cubicBezTo>
                    <a:pt x="319024" y="13081"/>
                    <a:pt x="326517" y="17018"/>
                    <a:pt x="333502" y="21590"/>
                  </a:cubicBezTo>
                  <a:cubicBezTo>
                    <a:pt x="340487" y="26162"/>
                    <a:pt x="346964" y="31623"/>
                    <a:pt x="352933" y="37592"/>
                  </a:cubicBezTo>
                  <a:cubicBezTo>
                    <a:pt x="358902" y="43561"/>
                    <a:pt x="364236" y="50038"/>
                    <a:pt x="368935" y="57023"/>
                  </a:cubicBezTo>
                  <a:cubicBezTo>
                    <a:pt x="373634" y="64008"/>
                    <a:pt x="377571" y="71501"/>
                    <a:pt x="380873" y="79248"/>
                  </a:cubicBezTo>
                  <a:cubicBezTo>
                    <a:pt x="384175" y="86995"/>
                    <a:pt x="386588" y="95123"/>
                    <a:pt x="388239" y="103378"/>
                  </a:cubicBezTo>
                  <a:cubicBezTo>
                    <a:pt x="389890" y="111633"/>
                    <a:pt x="390652" y="120015"/>
                    <a:pt x="390652" y="128524"/>
                  </a:cubicBezTo>
                  <a:lnTo>
                    <a:pt x="390652" y="252349"/>
                  </a:lnTo>
                  <a:cubicBezTo>
                    <a:pt x="390652" y="260858"/>
                    <a:pt x="389890" y="269113"/>
                    <a:pt x="388239" y="277495"/>
                  </a:cubicBezTo>
                  <a:cubicBezTo>
                    <a:pt x="386588" y="285877"/>
                    <a:pt x="384175" y="293878"/>
                    <a:pt x="380873" y="301625"/>
                  </a:cubicBezTo>
                  <a:cubicBezTo>
                    <a:pt x="377571" y="309372"/>
                    <a:pt x="373634" y="316865"/>
                    <a:pt x="368935" y="323850"/>
                  </a:cubicBezTo>
                  <a:cubicBezTo>
                    <a:pt x="364236" y="330835"/>
                    <a:pt x="358902" y="337312"/>
                    <a:pt x="352933" y="343408"/>
                  </a:cubicBezTo>
                  <a:cubicBezTo>
                    <a:pt x="346964" y="349504"/>
                    <a:pt x="340487" y="354711"/>
                    <a:pt x="333502" y="359410"/>
                  </a:cubicBezTo>
                  <a:cubicBezTo>
                    <a:pt x="326517" y="364109"/>
                    <a:pt x="319024" y="368046"/>
                    <a:pt x="311277" y="371221"/>
                  </a:cubicBezTo>
                  <a:cubicBezTo>
                    <a:pt x="303530" y="374396"/>
                    <a:pt x="295402" y="376936"/>
                    <a:pt x="287147" y="378587"/>
                  </a:cubicBezTo>
                  <a:cubicBezTo>
                    <a:pt x="278892" y="380238"/>
                    <a:pt x="270510" y="381000"/>
                    <a:pt x="262001" y="381000"/>
                  </a:cubicBezTo>
                  <a:lnTo>
                    <a:pt x="128651" y="381000"/>
                  </a:lnTo>
                  <a:cubicBezTo>
                    <a:pt x="120269" y="381000"/>
                    <a:pt x="111887" y="380238"/>
                    <a:pt x="103505" y="378587"/>
                  </a:cubicBezTo>
                  <a:cubicBezTo>
                    <a:pt x="95123" y="376936"/>
                    <a:pt x="87122" y="374523"/>
                    <a:pt x="79375" y="371221"/>
                  </a:cubicBezTo>
                  <a:cubicBezTo>
                    <a:pt x="71628" y="367919"/>
                    <a:pt x="64135" y="363982"/>
                    <a:pt x="57150" y="359410"/>
                  </a:cubicBezTo>
                  <a:cubicBezTo>
                    <a:pt x="50165" y="354838"/>
                    <a:pt x="43688" y="349377"/>
                    <a:pt x="37719" y="343408"/>
                  </a:cubicBezTo>
                  <a:cubicBezTo>
                    <a:pt x="31750" y="337439"/>
                    <a:pt x="26416" y="330962"/>
                    <a:pt x="21717" y="323850"/>
                  </a:cubicBezTo>
                  <a:cubicBezTo>
                    <a:pt x="17018" y="316738"/>
                    <a:pt x="13081" y="309372"/>
                    <a:pt x="9779" y="301625"/>
                  </a:cubicBezTo>
                  <a:cubicBezTo>
                    <a:pt x="6477" y="293878"/>
                    <a:pt x="4064" y="285750"/>
                    <a:pt x="2413" y="277495"/>
                  </a:cubicBezTo>
                  <a:cubicBezTo>
                    <a:pt x="762" y="269240"/>
                    <a:pt x="0" y="260858"/>
                    <a:pt x="0" y="252349"/>
                  </a:cubicBezTo>
                </a:path>
              </a:pathLst>
            </a:custGeom>
            <a:solidFill>
              <a:srgbClr val="E8F3E8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63575" y="3511677"/>
              <a:ext cx="390652" cy="381000"/>
            </a:xfrm>
            <a:custGeom>
              <a:avLst/>
              <a:gdLst/>
              <a:ahLst/>
              <a:cxnLst/>
              <a:rect l="l" t="t" r="r" b="b"/>
              <a:pathLst>
                <a:path w="390652" h="381000">
                  <a:moveTo>
                    <a:pt x="0" y="252349"/>
                  </a:moveTo>
                  <a:lnTo>
                    <a:pt x="0" y="128524"/>
                  </a:lnTo>
                  <a:cubicBezTo>
                    <a:pt x="0" y="120142"/>
                    <a:pt x="762" y="111760"/>
                    <a:pt x="2413" y="103378"/>
                  </a:cubicBezTo>
                  <a:cubicBezTo>
                    <a:pt x="4064" y="94996"/>
                    <a:pt x="6477" y="87122"/>
                    <a:pt x="9779" y="79248"/>
                  </a:cubicBezTo>
                  <a:cubicBezTo>
                    <a:pt x="13081" y="71374"/>
                    <a:pt x="17018" y="64008"/>
                    <a:pt x="21717" y="57023"/>
                  </a:cubicBezTo>
                  <a:cubicBezTo>
                    <a:pt x="26416" y="50038"/>
                    <a:pt x="31750" y="43561"/>
                    <a:pt x="37719" y="37592"/>
                  </a:cubicBezTo>
                  <a:cubicBezTo>
                    <a:pt x="43688" y="31623"/>
                    <a:pt x="50165" y="26289"/>
                    <a:pt x="57150" y="21590"/>
                  </a:cubicBezTo>
                  <a:cubicBezTo>
                    <a:pt x="64135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651" y="0"/>
                  </a:cubicBezTo>
                  <a:lnTo>
                    <a:pt x="262001" y="0"/>
                  </a:lnTo>
                  <a:cubicBezTo>
                    <a:pt x="270383" y="0"/>
                    <a:pt x="278765" y="889"/>
                    <a:pt x="287147" y="2413"/>
                  </a:cubicBezTo>
                  <a:cubicBezTo>
                    <a:pt x="295529" y="3937"/>
                    <a:pt x="303530" y="6477"/>
                    <a:pt x="311277" y="9779"/>
                  </a:cubicBezTo>
                  <a:cubicBezTo>
                    <a:pt x="319024" y="13081"/>
                    <a:pt x="326517" y="17018"/>
                    <a:pt x="333502" y="21590"/>
                  </a:cubicBezTo>
                  <a:cubicBezTo>
                    <a:pt x="340487" y="26162"/>
                    <a:pt x="346964" y="31623"/>
                    <a:pt x="352933" y="37592"/>
                  </a:cubicBezTo>
                  <a:cubicBezTo>
                    <a:pt x="358902" y="43561"/>
                    <a:pt x="364236" y="50038"/>
                    <a:pt x="368935" y="57023"/>
                  </a:cubicBezTo>
                  <a:cubicBezTo>
                    <a:pt x="373634" y="64008"/>
                    <a:pt x="377571" y="71501"/>
                    <a:pt x="380873" y="79248"/>
                  </a:cubicBezTo>
                  <a:cubicBezTo>
                    <a:pt x="384175" y="86995"/>
                    <a:pt x="386588" y="95123"/>
                    <a:pt x="388239" y="103378"/>
                  </a:cubicBezTo>
                  <a:cubicBezTo>
                    <a:pt x="389890" y="111633"/>
                    <a:pt x="390652" y="120015"/>
                    <a:pt x="390652" y="128524"/>
                  </a:cubicBezTo>
                  <a:lnTo>
                    <a:pt x="390652" y="252349"/>
                  </a:lnTo>
                  <a:cubicBezTo>
                    <a:pt x="390652" y="260858"/>
                    <a:pt x="389890" y="269113"/>
                    <a:pt x="388239" y="277368"/>
                  </a:cubicBezTo>
                  <a:cubicBezTo>
                    <a:pt x="386588" y="285623"/>
                    <a:pt x="384175" y="293751"/>
                    <a:pt x="380873" y="301498"/>
                  </a:cubicBezTo>
                  <a:cubicBezTo>
                    <a:pt x="377571" y="309245"/>
                    <a:pt x="373634" y="316738"/>
                    <a:pt x="368935" y="323723"/>
                  </a:cubicBezTo>
                  <a:cubicBezTo>
                    <a:pt x="364236" y="330708"/>
                    <a:pt x="358902" y="337185"/>
                    <a:pt x="352933" y="343281"/>
                  </a:cubicBezTo>
                  <a:cubicBezTo>
                    <a:pt x="346964" y="349377"/>
                    <a:pt x="340487" y="354584"/>
                    <a:pt x="333502" y="359283"/>
                  </a:cubicBezTo>
                  <a:cubicBezTo>
                    <a:pt x="326517" y="363982"/>
                    <a:pt x="319024" y="367919"/>
                    <a:pt x="311277" y="371094"/>
                  </a:cubicBezTo>
                  <a:cubicBezTo>
                    <a:pt x="303530" y="374269"/>
                    <a:pt x="295402" y="376809"/>
                    <a:pt x="287147" y="378460"/>
                  </a:cubicBezTo>
                  <a:cubicBezTo>
                    <a:pt x="278892" y="380111"/>
                    <a:pt x="270510" y="381000"/>
                    <a:pt x="262001" y="381000"/>
                  </a:cubicBezTo>
                  <a:lnTo>
                    <a:pt x="128651" y="381000"/>
                  </a:lnTo>
                  <a:cubicBezTo>
                    <a:pt x="120269" y="381000"/>
                    <a:pt x="111887" y="380111"/>
                    <a:pt x="103505" y="378460"/>
                  </a:cubicBezTo>
                  <a:cubicBezTo>
                    <a:pt x="95123" y="376809"/>
                    <a:pt x="87122" y="374396"/>
                    <a:pt x="79375" y="371094"/>
                  </a:cubicBezTo>
                  <a:cubicBezTo>
                    <a:pt x="71628" y="367792"/>
                    <a:pt x="64135" y="363855"/>
                    <a:pt x="57150" y="359283"/>
                  </a:cubicBezTo>
                  <a:cubicBezTo>
                    <a:pt x="50165" y="354711"/>
                    <a:pt x="43688" y="349250"/>
                    <a:pt x="37719" y="343281"/>
                  </a:cubicBezTo>
                  <a:cubicBezTo>
                    <a:pt x="31750" y="337312"/>
                    <a:pt x="26416" y="330835"/>
                    <a:pt x="21717" y="323723"/>
                  </a:cubicBezTo>
                  <a:cubicBezTo>
                    <a:pt x="17018" y="316611"/>
                    <a:pt x="13081" y="309245"/>
                    <a:pt x="9779" y="301498"/>
                  </a:cubicBezTo>
                  <a:cubicBezTo>
                    <a:pt x="6477" y="293751"/>
                    <a:pt x="4064" y="285623"/>
                    <a:pt x="2413" y="277368"/>
                  </a:cubicBezTo>
                  <a:cubicBezTo>
                    <a:pt x="762" y="269113"/>
                    <a:pt x="0" y="260731"/>
                    <a:pt x="0" y="252349"/>
                  </a:cubicBezTo>
                </a:path>
              </a:pathLst>
            </a:custGeom>
            <a:solidFill>
              <a:srgbClr val="E8F3E8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63575" y="4559554"/>
              <a:ext cx="390652" cy="381000"/>
            </a:xfrm>
            <a:custGeom>
              <a:avLst/>
              <a:gdLst/>
              <a:ahLst/>
              <a:cxnLst/>
              <a:rect l="l" t="t" r="r" b="b"/>
              <a:pathLst>
                <a:path w="390652" h="381000">
                  <a:moveTo>
                    <a:pt x="0" y="252222"/>
                  </a:moveTo>
                  <a:lnTo>
                    <a:pt x="0" y="128397"/>
                  </a:lnTo>
                  <a:cubicBezTo>
                    <a:pt x="0" y="120015"/>
                    <a:pt x="762" y="111633"/>
                    <a:pt x="2413" y="103378"/>
                  </a:cubicBezTo>
                  <a:cubicBezTo>
                    <a:pt x="4064" y="95123"/>
                    <a:pt x="6477" y="86995"/>
                    <a:pt x="9779" y="79248"/>
                  </a:cubicBezTo>
                  <a:cubicBezTo>
                    <a:pt x="13081" y="71501"/>
                    <a:pt x="17018" y="64008"/>
                    <a:pt x="21717" y="57023"/>
                  </a:cubicBezTo>
                  <a:cubicBezTo>
                    <a:pt x="26416" y="50038"/>
                    <a:pt x="31750" y="43561"/>
                    <a:pt x="37719" y="37592"/>
                  </a:cubicBezTo>
                  <a:cubicBezTo>
                    <a:pt x="43688" y="31623"/>
                    <a:pt x="50165" y="26289"/>
                    <a:pt x="57150" y="21590"/>
                  </a:cubicBezTo>
                  <a:cubicBezTo>
                    <a:pt x="64135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3"/>
                    <a:pt x="120142" y="0"/>
                    <a:pt x="128651" y="0"/>
                  </a:cubicBezTo>
                  <a:lnTo>
                    <a:pt x="262001" y="0"/>
                  </a:lnTo>
                  <a:cubicBezTo>
                    <a:pt x="270383" y="0"/>
                    <a:pt x="278765" y="889"/>
                    <a:pt x="287147" y="2413"/>
                  </a:cubicBezTo>
                  <a:cubicBezTo>
                    <a:pt x="295529" y="3937"/>
                    <a:pt x="303530" y="6477"/>
                    <a:pt x="311277" y="9779"/>
                  </a:cubicBezTo>
                  <a:cubicBezTo>
                    <a:pt x="319024" y="13081"/>
                    <a:pt x="326517" y="17018"/>
                    <a:pt x="333502" y="21590"/>
                  </a:cubicBezTo>
                  <a:cubicBezTo>
                    <a:pt x="340487" y="26162"/>
                    <a:pt x="346964" y="31623"/>
                    <a:pt x="352933" y="37592"/>
                  </a:cubicBezTo>
                  <a:cubicBezTo>
                    <a:pt x="358902" y="43561"/>
                    <a:pt x="364236" y="50038"/>
                    <a:pt x="368935" y="57023"/>
                  </a:cubicBezTo>
                  <a:cubicBezTo>
                    <a:pt x="373634" y="64008"/>
                    <a:pt x="377571" y="71501"/>
                    <a:pt x="380873" y="79248"/>
                  </a:cubicBezTo>
                  <a:cubicBezTo>
                    <a:pt x="384175" y="86995"/>
                    <a:pt x="386588" y="95123"/>
                    <a:pt x="388239" y="103378"/>
                  </a:cubicBezTo>
                  <a:cubicBezTo>
                    <a:pt x="389890" y="111633"/>
                    <a:pt x="390652" y="120015"/>
                    <a:pt x="390652" y="128397"/>
                  </a:cubicBezTo>
                  <a:lnTo>
                    <a:pt x="390652" y="252222"/>
                  </a:lnTo>
                  <a:cubicBezTo>
                    <a:pt x="390652" y="260731"/>
                    <a:pt x="389890" y="268986"/>
                    <a:pt x="388239" y="277368"/>
                  </a:cubicBezTo>
                  <a:cubicBezTo>
                    <a:pt x="386588" y="285750"/>
                    <a:pt x="384175" y="293751"/>
                    <a:pt x="380873" y="301498"/>
                  </a:cubicBezTo>
                  <a:cubicBezTo>
                    <a:pt x="377571" y="309245"/>
                    <a:pt x="373634" y="316738"/>
                    <a:pt x="368935" y="323723"/>
                  </a:cubicBezTo>
                  <a:cubicBezTo>
                    <a:pt x="364236" y="330708"/>
                    <a:pt x="358902" y="337185"/>
                    <a:pt x="352933" y="343281"/>
                  </a:cubicBezTo>
                  <a:cubicBezTo>
                    <a:pt x="346964" y="349377"/>
                    <a:pt x="340487" y="354584"/>
                    <a:pt x="333502" y="359283"/>
                  </a:cubicBezTo>
                  <a:cubicBezTo>
                    <a:pt x="326517" y="363982"/>
                    <a:pt x="319024" y="367919"/>
                    <a:pt x="311277" y="371094"/>
                  </a:cubicBezTo>
                  <a:cubicBezTo>
                    <a:pt x="303530" y="374269"/>
                    <a:pt x="295402" y="376809"/>
                    <a:pt x="287147" y="378460"/>
                  </a:cubicBezTo>
                  <a:cubicBezTo>
                    <a:pt x="278892" y="380111"/>
                    <a:pt x="270510" y="381000"/>
                    <a:pt x="262001" y="381000"/>
                  </a:cubicBezTo>
                  <a:lnTo>
                    <a:pt x="128651" y="381000"/>
                  </a:lnTo>
                  <a:cubicBezTo>
                    <a:pt x="120269" y="381000"/>
                    <a:pt x="111887" y="380111"/>
                    <a:pt x="103505" y="378460"/>
                  </a:cubicBezTo>
                  <a:cubicBezTo>
                    <a:pt x="95123" y="376809"/>
                    <a:pt x="87122" y="374396"/>
                    <a:pt x="79375" y="371094"/>
                  </a:cubicBezTo>
                  <a:cubicBezTo>
                    <a:pt x="71628" y="367793"/>
                    <a:pt x="64135" y="363855"/>
                    <a:pt x="57150" y="359283"/>
                  </a:cubicBezTo>
                  <a:cubicBezTo>
                    <a:pt x="50165" y="354712"/>
                    <a:pt x="43688" y="349250"/>
                    <a:pt x="37719" y="343281"/>
                  </a:cubicBezTo>
                  <a:cubicBezTo>
                    <a:pt x="31750" y="337312"/>
                    <a:pt x="26416" y="330835"/>
                    <a:pt x="21717" y="323723"/>
                  </a:cubicBezTo>
                  <a:cubicBezTo>
                    <a:pt x="17018" y="316611"/>
                    <a:pt x="13081" y="309245"/>
                    <a:pt x="9779" y="301498"/>
                  </a:cubicBezTo>
                  <a:cubicBezTo>
                    <a:pt x="6477" y="293751"/>
                    <a:pt x="4064" y="285623"/>
                    <a:pt x="2413" y="277368"/>
                  </a:cubicBezTo>
                  <a:cubicBezTo>
                    <a:pt x="762" y="269113"/>
                    <a:pt x="0" y="260731"/>
                    <a:pt x="0" y="252222"/>
                  </a:cubicBezTo>
                </a:path>
              </a:pathLst>
            </a:custGeom>
            <a:solidFill>
              <a:srgbClr val="E8F3E8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63575" y="5597398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262001"/>
                  </a:moveTo>
                  <a:lnTo>
                    <a:pt x="0" y="128651"/>
                  </a:lnTo>
                  <a:cubicBezTo>
                    <a:pt x="0" y="120269"/>
                    <a:pt x="762" y="111887"/>
                    <a:pt x="2413" y="103505"/>
                  </a:cubicBezTo>
                  <a:cubicBezTo>
                    <a:pt x="4064" y="95123"/>
                    <a:pt x="6477" y="87122"/>
                    <a:pt x="9779" y="79375"/>
                  </a:cubicBezTo>
                  <a:cubicBezTo>
                    <a:pt x="13081" y="71628"/>
                    <a:pt x="17018" y="64135"/>
                    <a:pt x="21717" y="57150"/>
                  </a:cubicBezTo>
                  <a:cubicBezTo>
                    <a:pt x="26416" y="50165"/>
                    <a:pt x="31750" y="43688"/>
                    <a:pt x="37719" y="37719"/>
                  </a:cubicBezTo>
                  <a:cubicBezTo>
                    <a:pt x="43688" y="31750"/>
                    <a:pt x="50165" y="26416"/>
                    <a:pt x="57150" y="21717"/>
                  </a:cubicBezTo>
                  <a:cubicBezTo>
                    <a:pt x="64135" y="17018"/>
                    <a:pt x="71628" y="13081"/>
                    <a:pt x="79375" y="9779"/>
                  </a:cubicBezTo>
                  <a:cubicBezTo>
                    <a:pt x="87122" y="6477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651" y="0"/>
                  </a:cubicBezTo>
                  <a:lnTo>
                    <a:pt x="262001" y="0"/>
                  </a:lnTo>
                  <a:cubicBezTo>
                    <a:pt x="270383" y="0"/>
                    <a:pt x="278765" y="762"/>
                    <a:pt x="287147" y="2413"/>
                  </a:cubicBezTo>
                  <a:cubicBezTo>
                    <a:pt x="295529" y="4064"/>
                    <a:pt x="303530" y="6477"/>
                    <a:pt x="311277" y="9779"/>
                  </a:cubicBezTo>
                  <a:cubicBezTo>
                    <a:pt x="319024" y="13080"/>
                    <a:pt x="326517" y="17018"/>
                    <a:pt x="333502" y="21717"/>
                  </a:cubicBezTo>
                  <a:cubicBezTo>
                    <a:pt x="340487" y="26416"/>
                    <a:pt x="346964" y="31750"/>
                    <a:pt x="352933" y="37719"/>
                  </a:cubicBezTo>
                  <a:cubicBezTo>
                    <a:pt x="358902" y="43688"/>
                    <a:pt x="364236" y="50165"/>
                    <a:pt x="368935" y="57150"/>
                  </a:cubicBezTo>
                  <a:cubicBezTo>
                    <a:pt x="373634" y="64135"/>
                    <a:pt x="377571" y="71628"/>
                    <a:pt x="380873" y="79375"/>
                  </a:cubicBezTo>
                  <a:cubicBezTo>
                    <a:pt x="384175" y="87122"/>
                    <a:pt x="386588" y="95250"/>
                    <a:pt x="388239" y="103505"/>
                  </a:cubicBezTo>
                  <a:cubicBezTo>
                    <a:pt x="389890" y="111760"/>
                    <a:pt x="390652" y="120142"/>
                    <a:pt x="390652" y="128651"/>
                  </a:cubicBezTo>
                  <a:lnTo>
                    <a:pt x="390652" y="262001"/>
                  </a:lnTo>
                  <a:cubicBezTo>
                    <a:pt x="390652" y="270383"/>
                    <a:pt x="389890" y="278765"/>
                    <a:pt x="388239" y="287147"/>
                  </a:cubicBezTo>
                  <a:cubicBezTo>
                    <a:pt x="386588" y="295529"/>
                    <a:pt x="384175" y="303530"/>
                    <a:pt x="380873" y="311277"/>
                  </a:cubicBezTo>
                  <a:cubicBezTo>
                    <a:pt x="377571" y="319024"/>
                    <a:pt x="373634" y="326517"/>
                    <a:pt x="368935" y="333502"/>
                  </a:cubicBezTo>
                  <a:cubicBezTo>
                    <a:pt x="364236" y="340487"/>
                    <a:pt x="358902" y="346964"/>
                    <a:pt x="352933" y="352933"/>
                  </a:cubicBezTo>
                  <a:cubicBezTo>
                    <a:pt x="346964" y="358902"/>
                    <a:pt x="340487" y="364236"/>
                    <a:pt x="333502" y="368935"/>
                  </a:cubicBezTo>
                  <a:cubicBezTo>
                    <a:pt x="326517" y="373634"/>
                    <a:pt x="319024" y="377571"/>
                    <a:pt x="311277" y="380873"/>
                  </a:cubicBezTo>
                  <a:cubicBezTo>
                    <a:pt x="303530" y="384175"/>
                    <a:pt x="295402" y="386588"/>
                    <a:pt x="287147" y="388239"/>
                  </a:cubicBezTo>
                  <a:cubicBezTo>
                    <a:pt x="278892" y="389890"/>
                    <a:pt x="270510" y="390652"/>
                    <a:pt x="262001" y="390652"/>
                  </a:cubicBezTo>
                  <a:lnTo>
                    <a:pt x="128651" y="390652"/>
                  </a:lnTo>
                  <a:cubicBezTo>
                    <a:pt x="120269" y="390652"/>
                    <a:pt x="111887" y="389890"/>
                    <a:pt x="103505" y="388239"/>
                  </a:cubicBezTo>
                  <a:cubicBezTo>
                    <a:pt x="95123" y="386588"/>
                    <a:pt x="87122" y="384175"/>
                    <a:pt x="79375" y="380873"/>
                  </a:cubicBezTo>
                  <a:cubicBezTo>
                    <a:pt x="71628" y="377571"/>
                    <a:pt x="64135" y="373634"/>
                    <a:pt x="57150" y="368935"/>
                  </a:cubicBezTo>
                  <a:cubicBezTo>
                    <a:pt x="50165" y="364236"/>
                    <a:pt x="43688" y="358902"/>
                    <a:pt x="37719" y="352933"/>
                  </a:cubicBezTo>
                  <a:cubicBezTo>
                    <a:pt x="31750" y="346964"/>
                    <a:pt x="26416" y="340487"/>
                    <a:pt x="21717" y="333502"/>
                  </a:cubicBezTo>
                  <a:cubicBezTo>
                    <a:pt x="17018" y="326517"/>
                    <a:pt x="13081" y="319024"/>
                    <a:pt x="9779" y="311277"/>
                  </a:cubicBezTo>
                  <a:cubicBezTo>
                    <a:pt x="6477" y="303530"/>
                    <a:pt x="4064" y="295402"/>
                    <a:pt x="2413" y="287147"/>
                  </a:cubicBezTo>
                  <a:cubicBezTo>
                    <a:pt x="762" y="278892"/>
                    <a:pt x="0" y="270510"/>
                    <a:pt x="0" y="262001"/>
                  </a:cubicBezTo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00075" y="1766381"/>
            <a:ext cx="1031238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Project Objective : What We Aimed To Achieve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02510" y="2412005"/>
            <a:ext cx="45253" cy="46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8663" y="2345025"/>
            <a:ext cx="130893" cy="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8870" y="3392775"/>
            <a:ext cx="171555" cy="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5270" y="4440525"/>
            <a:ext cx="158439" cy="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5450" y="5488275"/>
            <a:ext cx="178118" cy="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3032" y="6536025"/>
            <a:ext cx="162897" cy="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7288" y="3583580"/>
            <a:ext cx="2110902" cy="33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Degree Calculation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26358" y="3949492"/>
            <a:ext cx="43720" cy="31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7288" y="6726820"/>
            <a:ext cx="2175710" cy="33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Scalability Analysis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7564" y="7092732"/>
            <a:ext cx="43720" cy="31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288" y="2535830"/>
            <a:ext cx="3007052" cy="33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Directed</a:t>
            </a:r>
            <a:r>
              <a:rPr lang="en-US" sz="1687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Grap </a:t>
            </a:r>
            <a:r>
              <a:rPr lang="en-US" sz="1687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Generatio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49155" y="2901742"/>
            <a:ext cx="43720" cy="31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7288" y="5679080"/>
            <a:ext cx="3045847" cy="33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Performance Measurement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23796" y="6044992"/>
            <a:ext cx="43720" cy="31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7288" y="4631330"/>
            <a:ext cx="3913022" cy="33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Fudamental Property Verification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5574" y="4997242"/>
            <a:ext cx="43720" cy="31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7288" y="4035217"/>
            <a:ext cx="5330371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Accurately computing in-degrees and out-degrees for all nodes.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57288" y="2987467"/>
            <a:ext cx="5504155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Creating a directed graph using an adjacency matrix from scratch.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288" y="5082967"/>
            <a:ext cx="6387341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Confirming the mathematical principle : Sum(In-degree) = Sum(Out-degree).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7288" y="6130717"/>
            <a:ext cx="6773208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Measuring the computational time for different graph sizes to analyze efficiency.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7287" y="7178457"/>
            <a:ext cx="8385334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Repeating experiments for increasing graph sizes (n = 1000 to 5000) to observe performance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3666961"/>
            <a:ext cx="5565772" cy="1755772"/>
          </a:xfrm>
          <a:custGeom>
            <a:avLst/>
            <a:gdLst/>
            <a:ahLst/>
            <a:cxnLst/>
            <a:rect l="l" t="t" r="r" b="b"/>
            <a:pathLst>
              <a:path w="5565772" h="1755772">
                <a:moveTo>
                  <a:pt x="0" y="0"/>
                </a:moveTo>
                <a:lnTo>
                  <a:pt x="5565772" y="0"/>
                </a:lnTo>
                <a:lnTo>
                  <a:pt x="5565772" y="1755772"/>
                </a:lnTo>
                <a:lnTo>
                  <a:pt x="0" y="1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05575" y="4301965"/>
            <a:ext cx="47625" cy="47625"/>
            <a:chOff x="0" y="0"/>
            <a:chExt cx="47625" cy="47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505575" y="4911565"/>
            <a:ext cx="47625" cy="47625"/>
            <a:chOff x="0" y="0"/>
            <a:chExt cx="47625" cy="47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505575" y="5521165"/>
            <a:ext cx="47625" cy="47625"/>
            <a:chOff x="0" y="0"/>
            <a:chExt cx="47625" cy="47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505575" y="6130765"/>
            <a:ext cx="47625" cy="47625"/>
            <a:chOff x="0" y="0"/>
            <a:chExt cx="47625" cy="476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00075" y="2220152"/>
            <a:ext cx="8068294" cy="103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Code Overview: Essential Includes &amp;   Definitios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038" y="3820552"/>
            <a:ext cx="1694583" cy="1374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#include &lt;stdio.h&gt; #include &lt;stdlib.h&gt; #include &lt;time.h&gt; #define MAX_N 5000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65989" y="3683430"/>
            <a:ext cx="161929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Explanation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40128" y="4174653"/>
            <a:ext cx="4064727" cy="264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&lt;stdio.h&gt;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Standard Input/Output library for print statements.</a:t>
            </a:r>
          </a:p>
          <a:p>
            <a:pPr algn="l">
              <a:lnSpc>
                <a:spcPts val="30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&lt;stdlib.h&gt;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Standard library for general utilities,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including random number generation (`rand()`).</a:t>
            </a:r>
          </a:p>
          <a:p>
            <a:pPr algn="l">
              <a:lnSpc>
                <a:spcPts val="33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&lt;time.h&gt;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For time-related functions (`time()`,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`clock()`) used in performance measurement.</a:t>
            </a:r>
          </a:p>
          <a:p>
            <a:pPr algn="l">
              <a:lnSpc>
                <a:spcPts val="33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MAX_N = 5000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Defines the maximum graph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size our program can handle, ensuring sufficient </a:t>
            </a:r>
          </a:p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memory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3438361"/>
            <a:ext cx="5565772" cy="3394072"/>
          </a:xfrm>
          <a:custGeom>
            <a:avLst/>
            <a:gdLst/>
            <a:ahLst/>
            <a:cxnLst/>
            <a:rect l="l" t="t" r="r" b="b"/>
            <a:pathLst>
              <a:path w="5565772" h="3394072">
                <a:moveTo>
                  <a:pt x="0" y="0"/>
                </a:moveTo>
                <a:lnTo>
                  <a:pt x="5565772" y="0"/>
                </a:lnTo>
                <a:lnTo>
                  <a:pt x="5565772" y="3394072"/>
                </a:lnTo>
                <a:lnTo>
                  <a:pt x="0" y="3394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05575" y="4797265"/>
            <a:ext cx="47625" cy="47625"/>
            <a:chOff x="0" y="0"/>
            <a:chExt cx="47625" cy="47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505575" y="5425915"/>
            <a:ext cx="47625" cy="47625"/>
            <a:chOff x="0" y="0"/>
            <a:chExt cx="47625" cy="47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505575" y="6340315"/>
            <a:ext cx="47625" cy="47625"/>
            <a:chOff x="0" y="0"/>
            <a:chExt cx="47625" cy="47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734175" y="5616415"/>
            <a:ext cx="790575" cy="228600"/>
            <a:chOff x="0" y="0"/>
            <a:chExt cx="790575" cy="228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0702" cy="228600"/>
            </a:xfrm>
            <a:custGeom>
              <a:avLst/>
              <a:gdLst/>
              <a:ahLst/>
              <a:cxnLst/>
              <a:rect l="l" t="t" r="r" b="b"/>
              <a:pathLst>
                <a:path w="79070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769112" y="0"/>
                  </a:lnTo>
                  <a:cubicBezTo>
                    <a:pt x="771906" y="0"/>
                    <a:pt x="774700" y="508"/>
                    <a:pt x="777367" y="1651"/>
                  </a:cubicBezTo>
                  <a:cubicBezTo>
                    <a:pt x="780034" y="2794"/>
                    <a:pt x="782320" y="4318"/>
                    <a:pt x="784352" y="6350"/>
                  </a:cubicBezTo>
                  <a:cubicBezTo>
                    <a:pt x="786384" y="8382"/>
                    <a:pt x="787908" y="10668"/>
                    <a:pt x="789051" y="13335"/>
                  </a:cubicBezTo>
                  <a:cubicBezTo>
                    <a:pt x="790194" y="16002"/>
                    <a:pt x="790702" y="18669"/>
                    <a:pt x="790702" y="21590"/>
                  </a:cubicBezTo>
                  <a:lnTo>
                    <a:pt x="790702" y="207137"/>
                  </a:lnTo>
                  <a:cubicBezTo>
                    <a:pt x="790702" y="209931"/>
                    <a:pt x="790194" y="212725"/>
                    <a:pt x="789051" y="215265"/>
                  </a:cubicBezTo>
                  <a:cubicBezTo>
                    <a:pt x="787908" y="217805"/>
                    <a:pt x="786384" y="220218"/>
                    <a:pt x="784352" y="222250"/>
                  </a:cubicBezTo>
                  <a:cubicBezTo>
                    <a:pt x="782320" y="224282"/>
                    <a:pt x="780034" y="225806"/>
                    <a:pt x="777367" y="226949"/>
                  </a:cubicBezTo>
                  <a:cubicBezTo>
                    <a:pt x="774700" y="228092"/>
                    <a:pt x="772033" y="228600"/>
                    <a:pt x="76911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734175" y="6530815"/>
            <a:ext cx="295275" cy="228600"/>
            <a:chOff x="0" y="0"/>
            <a:chExt cx="295275" cy="228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402" cy="228727"/>
            </a:xfrm>
            <a:custGeom>
              <a:avLst/>
              <a:gdLst/>
              <a:ahLst/>
              <a:cxnLst/>
              <a:rect l="l" t="t" r="r" b="b"/>
              <a:pathLst>
                <a:path w="295402" h="228727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73812" y="0"/>
                  </a:lnTo>
                  <a:cubicBezTo>
                    <a:pt x="276606" y="0"/>
                    <a:pt x="279400" y="508"/>
                    <a:pt x="282067" y="1651"/>
                  </a:cubicBezTo>
                  <a:cubicBezTo>
                    <a:pt x="284734" y="2794"/>
                    <a:pt x="287020" y="4318"/>
                    <a:pt x="289052" y="6350"/>
                  </a:cubicBezTo>
                  <a:cubicBezTo>
                    <a:pt x="291084" y="8382"/>
                    <a:pt x="292608" y="10668"/>
                    <a:pt x="293751" y="13335"/>
                  </a:cubicBezTo>
                  <a:cubicBezTo>
                    <a:pt x="294894" y="16002"/>
                    <a:pt x="295402" y="18669"/>
                    <a:pt x="295402" y="21590"/>
                  </a:cubicBezTo>
                  <a:lnTo>
                    <a:pt x="295402" y="207137"/>
                  </a:lnTo>
                  <a:cubicBezTo>
                    <a:pt x="295402" y="209931"/>
                    <a:pt x="294894" y="212725"/>
                    <a:pt x="293751" y="215392"/>
                  </a:cubicBezTo>
                  <a:cubicBezTo>
                    <a:pt x="292608" y="218059"/>
                    <a:pt x="291084" y="220345"/>
                    <a:pt x="289052" y="222377"/>
                  </a:cubicBezTo>
                  <a:cubicBezTo>
                    <a:pt x="287020" y="224409"/>
                    <a:pt x="284734" y="225933"/>
                    <a:pt x="282067" y="227076"/>
                  </a:cubicBezTo>
                  <a:cubicBezTo>
                    <a:pt x="279400" y="228219"/>
                    <a:pt x="276733" y="228727"/>
                    <a:pt x="273812" y="228727"/>
                  </a:cubicBezTo>
                  <a:lnTo>
                    <a:pt x="21463" y="228727"/>
                  </a:lnTo>
                  <a:cubicBezTo>
                    <a:pt x="18669" y="228727"/>
                    <a:pt x="15875" y="228219"/>
                    <a:pt x="13208" y="227076"/>
                  </a:cubicBezTo>
                  <a:cubicBezTo>
                    <a:pt x="10541" y="225933"/>
                    <a:pt x="8255" y="224409"/>
                    <a:pt x="6223" y="222377"/>
                  </a:cubicBezTo>
                  <a:cubicBezTo>
                    <a:pt x="4191" y="220345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029700" y="4692490"/>
            <a:ext cx="800100" cy="228600"/>
            <a:chOff x="0" y="0"/>
            <a:chExt cx="8001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0100" cy="228600"/>
            </a:xfrm>
            <a:custGeom>
              <a:avLst/>
              <a:gdLst/>
              <a:ahLst/>
              <a:cxnLst/>
              <a:rect l="l" t="t" r="r" b="b"/>
              <a:pathLst>
                <a:path w="800100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778637" y="0"/>
                  </a:lnTo>
                  <a:cubicBezTo>
                    <a:pt x="781431" y="0"/>
                    <a:pt x="784225" y="508"/>
                    <a:pt x="786892" y="1651"/>
                  </a:cubicBezTo>
                  <a:cubicBezTo>
                    <a:pt x="789559" y="2794"/>
                    <a:pt x="791845" y="4318"/>
                    <a:pt x="793877" y="6350"/>
                  </a:cubicBezTo>
                  <a:cubicBezTo>
                    <a:pt x="795909" y="8382"/>
                    <a:pt x="797433" y="10668"/>
                    <a:pt x="798449" y="13335"/>
                  </a:cubicBezTo>
                  <a:cubicBezTo>
                    <a:pt x="799465" y="16002"/>
                    <a:pt x="800100" y="18669"/>
                    <a:pt x="800100" y="21590"/>
                  </a:cubicBezTo>
                  <a:lnTo>
                    <a:pt x="800100" y="207137"/>
                  </a:lnTo>
                  <a:cubicBezTo>
                    <a:pt x="800100" y="209931"/>
                    <a:pt x="799592" y="212725"/>
                    <a:pt x="798449" y="215265"/>
                  </a:cubicBezTo>
                  <a:cubicBezTo>
                    <a:pt x="797306" y="217805"/>
                    <a:pt x="795782" y="220218"/>
                    <a:pt x="793877" y="222250"/>
                  </a:cubicBezTo>
                  <a:cubicBezTo>
                    <a:pt x="791972" y="224282"/>
                    <a:pt x="789559" y="225806"/>
                    <a:pt x="786892" y="226949"/>
                  </a:cubicBezTo>
                  <a:cubicBezTo>
                    <a:pt x="784225" y="228092"/>
                    <a:pt x="781558" y="228600"/>
                    <a:pt x="77863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0039350" y="5321140"/>
            <a:ext cx="390525" cy="228600"/>
            <a:chOff x="0" y="0"/>
            <a:chExt cx="390525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0652" cy="228600"/>
            </a:xfrm>
            <a:custGeom>
              <a:avLst/>
              <a:gdLst/>
              <a:ahLst/>
              <a:cxnLst/>
              <a:rect l="l" t="t" r="r" b="b"/>
              <a:pathLst>
                <a:path w="39065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207137"/>
                  </a:lnTo>
                  <a:cubicBezTo>
                    <a:pt x="390652" y="209931"/>
                    <a:pt x="390144" y="212725"/>
                    <a:pt x="389001" y="215265"/>
                  </a:cubicBezTo>
                  <a:cubicBezTo>
                    <a:pt x="387858" y="217805"/>
                    <a:pt x="386334" y="220218"/>
                    <a:pt x="384302" y="222250"/>
                  </a:cubicBezTo>
                  <a:cubicBezTo>
                    <a:pt x="382270" y="224282"/>
                    <a:pt x="379984" y="225806"/>
                    <a:pt x="377317" y="226949"/>
                  </a:cubicBezTo>
                  <a:cubicBezTo>
                    <a:pt x="374650" y="228092"/>
                    <a:pt x="371983" y="228600"/>
                    <a:pt x="3690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0267950" y="6235540"/>
            <a:ext cx="542925" cy="228600"/>
            <a:chOff x="0" y="0"/>
            <a:chExt cx="542925" cy="228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3052" cy="228600"/>
            </a:xfrm>
            <a:custGeom>
              <a:avLst/>
              <a:gdLst/>
              <a:ahLst/>
              <a:cxnLst/>
              <a:rect l="l" t="t" r="r" b="b"/>
              <a:pathLst>
                <a:path w="54305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21462" y="0"/>
                  </a:lnTo>
                  <a:cubicBezTo>
                    <a:pt x="524256" y="0"/>
                    <a:pt x="527050" y="508"/>
                    <a:pt x="529717" y="1651"/>
                  </a:cubicBezTo>
                  <a:cubicBezTo>
                    <a:pt x="532384" y="2794"/>
                    <a:pt x="534670" y="4318"/>
                    <a:pt x="536702" y="6350"/>
                  </a:cubicBezTo>
                  <a:cubicBezTo>
                    <a:pt x="538734" y="8382"/>
                    <a:pt x="540258" y="10668"/>
                    <a:pt x="541401" y="13335"/>
                  </a:cubicBezTo>
                  <a:cubicBezTo>
                    <a:pt x="542544" y="16002"/>
                    <a:pt x="543052" y="18669"/>
                    <a:pt x="543052" y="21590"/>
                  </a:cubicBezTo>
                  <a:lnTo>
                    <a:pt x="543052" y="207137"/>
                  </a:lnTo>
                  <a:cubicBezTo>
                    <a:pt x="543052" y="209931"/>
                    <a:pt x="542544" y="212725"/>
                    <a:pt x="541401" y="215265"/>
                  </a:cubicBezTo>
                  <a:cubicBezTo>
                    <a:pt x="540258" y="217805"/>
                    <a:pt x="538734" y="220218"/>
                    <a:pt x="536702" y="222250"/>
                  </a:cubicBezTo>
                  <a:cubicBezTo>
                    <a:pt x="534670" y="224282"/>
                    <a:pt x="532384" y="225806"/>
                    <a:pt x="529717" y="226949"/>
                  </a:cubicBezTo>
                  <a:cubicBezTo>
                    <a:pt x="527050" y="228092"/>
                    <a:pt x="524383" y="228600"/>
                    <a:pt x="5214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00075" y="1991552"/>
            <a:ext cx="8646052" cy="103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Graph Contructio : Adjacency Matrix Creation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64651" y="3477652"/>
            <a:ext cx="45472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3038" y="3591952"/>
            <a:ext cx="3478692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void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generateGraph(int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n,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int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graph[n][n])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{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184" y="3868177"/>
            <a:ext cx="1858613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for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(int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=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0;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&lt;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n;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i++)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{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9340" y="4144402"/>
            <a:ext cx="1858442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for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(int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j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=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0;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j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&lt;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n;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j++)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7486" y="4411102"/>
            <a:ext cx="741483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if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(i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==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j)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{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5632" y="4668277"/>
            <a:ext cx="2419274" cy="272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graph[i][j]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=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0;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7486" y="4973077"/>
            <a:ext cx="546144" cy="26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}else{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5632" y="5220727"/>
            <a:ext cx="3272514" cy="272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graph[i][j]=rand()%2;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7486" y="5516002"/>
            <a:ext cx="65580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9340" y="5782702"/>
            <a:ext cx="65580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0109" y="3477652"/>
            <a:ext cx="45472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184" y="5944627"/>
            <a:ext cx="65580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3038" y="6449452"/>
            <a:ext cx="65580" cy="15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5989" y="3445305"/>
            <a:ext cx="4387463" cy="86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Explanation </a:t>
            </a:r>
          </a:p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This function initializes the adjacency matrix for our directed graph: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40128" y="4510334"/>
            <a:ext cx="4173874" cy="253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It iterates through each cell graph[i][j] of the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n x 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matrix.</a:t>
            </a:r>
          </a:p>
          <a:p>
            <a:pPr algn="l">
              <a:lnSpc>
                <a:spcPts val="33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 Self-Loops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For diagonal elements (i == j),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graph[i][j] is set to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0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, meaning no node connects </a:t>
            </a:r>
          </a:p>
          <a:p>
            <a:pPr algn="l">
              <a:lnSpc>
                <a:spcPts val="29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to itself.</a:t>
            </a:r>
          </a:p>
          <a:p>
            <a:pPr algn="l">
              <a:lnSpc>
                <a:spcPts val="2624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Random Edges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For all other connections, rand() </a:t>
            </a:r>
          </a:p>
          <a:p>
            <a:pPr algn="l">
              <a:lnSpc>
                <a:spcPts val="20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% 2 randomly assigns either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0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(no edge) or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(an </a:t>
            </a:r>
          </a:p>
          <a:p>
            <a:pPr algn="l">
              <a:lnSpc>
                <a:spcPts val="23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edge exists), simulating a random directed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3248014"/>
            <a:ext cx="5565772" cy="3956047"/>
          </a:xfrm>
          <a:custGeom>
            <a:avLst/>
            <a:gdLst/>
            <a:ahLst/>
            <a:cxnLst/>
            <a:rect l="l" t="t" r="r" b="b"/>
            <a:pathLst>
              <a:path w="5565772" h="3956047">
                <a:moveTo>
                  <a:pt x="0" y="0"/>
                </a:moveTo>
                <a:lnTo>
                  <a:pt x="5565772" y="0"/>
                </a:lnTo>
                <a:lnTo>
                  <a:pt x="5565772" y="3956047"/>
                </a:lnTo>
                <a:lnTo>
                  <a:pt x="0" y="3956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05575" y="4616442"/>
            <a:ext cx="47625" cy="47625"/>
            <a:chOff x="0" y="0"/>
            <a:chExt cx="47625" cy="47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505575" y="5216517"/>
            <a:ext cx="47625" cy="47625"/>
            <a:chOff x="0" y="0"/>
            <a:chExt cx="47625" cy="47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777038" y="5859455"/>
            <a:ext cx="57150" cy="57150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lnTo>
                    <a:pt x="54991" y="39497"/>
                  </a:lnTo>
                  <a:lnTo>
                    <a:pt x="54991" y="39497"/>
                  </a:lnTo>
                  <a:cubicBezTo>
                    <a:pt x="53594" y="42926"/>
                    <a:pt x="51435" y="46101"/>
                    <a:pt x="48768" y="48768"/>
                  </a:cubicBezTo>
                  <a:lnTo>
                    <a:pt x="45339" y="45339"/>
                  </a:lnTo>
                  <a:lnTo>
                    <a:pt x="48768" y="48768"/>
                  </a:lnTo>
                  <a:cubicBezTo>
                    <a:pt x="46101" y="51435"/>
                    <a:pt x="42926" y="53467"/>
                    <a:pt x="39497" y="54991"/>
                  </a:cubicBezTo>
                  <a:lnTo>
                    <a:pt x="39497" y="54991"/>
                  </a:lnTo>
                  <a:lnTo>
                    <a:pt x="39497" y="54991"/>
                  </a:lnTo>
                  <a:cubicBezTo>
                    <a:pt x="36068" y="56388"/>
                    <a:pt x="32385" y="57150"/>
                    <a:pt x="28575" y="57150"/>
                  </a:cubicBezTo>
                  <a:lnTo>
                    <a:pt x="28575" y="52324"/>
                  </a:lnTo>
                  <a:lnTo>
                    <a:pt x="28575" y="57150"/>
                  </a:lnTo>
                  <a:cubicBezTo>
                    <a:pt x="24765" y="57150"/>
                    <a:pt x="21082" y="56388"/>
                    <a:pt x="17653" y="54991"/>
                  </a:cubicBezTo>
                  <a:lnTo>
                    <a:pt x="17653" y="54991"/>
                  </a:lnTo>
                  <a:lnTo>
                    <a:pt x="17653" y="54991"/>
                  </a:lnTo>
                  <a:cubicBezTo>
                    <a:pt x="14224" y="53594"/>
                    <a:pt x="11049" y="51435"/>
                    <a:pt x="8382" y="48768"/>
                  </a:cubicBezTo>
                  <a:lnTo>
                    <a:pt x="8382" y="48768"/>
                  </a:lnTo>
                  <a:lnTo>
                    <a:pt x="8382" y="48768"/>
                  </a:lnTo>
                  <a:cubicBezTo>
                    <a:pt x="5715" y="46101"/>
                    <a:pt x="3683" y="43053"/>
                    <a:pt x="2159" y="39497"/>
                  </a:cubicBezTo>
                  <a:lnTo>
                    <a:pt x="2159" y="39497"/>
                  </a:lnTo>
                  <a:lnTo>
                    <a:pt x="2159" y="39497"/>
                  </a:lnTo>
                  <a:cubicBezTo>
                    <a:pt x="762" y="36068"/>
                    <a:pt x="0" y="32385"/>
                    <a:pt x="0" y="28575"/>
                  </a:cubicBezTo>
                  <a:lnTo>
                    <a:pt x="4826" y="28575"/>
                  </a:ln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lnTo>
                    <a:pt x="2159" y="17653"/>
                  </a:lnTo>
                  <a:lnTo>
                    <a:pt x="2159" y="17653"/>
                  </a:lnTo>
                  <a:cubicBezTo>
                    <a:pt x="3683" y="14097"/>
                    <a:pt x="5715" y="11049"/>
                    <a:pt x="8382" y="8382"/>
                  </a:cubicBezTo>
                  <a:lnTo>
                    <a:pt x="11684" y="11684"/>
                  </a:lnTo>
                  <a:lnTo>
                    <a:pt x="8382" y="8382"/>
                  </a:lnTo>
                  <a:cubicBezTo>
                    <a:pt x="11049" y="5715"/>
                    <a:pt x="14224" y="3683"/>
                    <a:pt x="17653" y="2159"/>
                  </a:cubicBezTo>
                  <a:lnTo>
                    <a:pt x="17653" y="2159"/>
                  </a:lnTo>
                  <a:lnTo>
                    <a:pt x="17653" y="2159"/>
                  </a:lnTo>
                  <a:cubicBezTo>
                    <a:pt x="21082" y="762"/>
                    <a:pt x="24765" y="0"/>
                    <a:pt x="28575" y="0"/>
                  </a:cubicBezTo>
                  <a:lnTo>
                    <a:pt x="28575" y="4826"/>
                  </a:lnTo>
                  <a:lnTo>
                    <a:pt x="28575" y="0"/>
                  </a:lnTo>
                  <a:cubicBezTo>
                    <a:pt x="32385" y="0"/>
                    <a:pt x="36068" y="762"/>
                    <a:pt x="39497" y="2159"/>
                  </a:cubicBezTo>
                  <a:lnTo>
                    <a:pt x="39497" y="2159"/>
                  </a:lnTo>
                  <a:lnTo>
                    <a:pt x="39497" y="2159"/>
                  </a:lnTo>
                  <a:cubicBezTo>
                    <a:pt x="42926" y="3556"/>
                    <a:pt x="46101" y="5715"/>
                    <a:pt x="48768" y="8382"/>
                  </a:cubicBezTo>
                  <a:lnTo>
                    <a:pt x="45466" y="11684"/>
                  </a:lnTo>
                  <a:lnTo>
                    <a:pt x="48768" y="8382"/>
                  </a:lnTo>
                  <a:cubicBezTo>
                    <a:pt x="51435" y="11049"/>
                    <a:pt x="53467" y="14224"/>
                    <a:pt x="54991" y="17653"/>
                  </a:cubicBezTo>
                  <a:lnTo>
                    <a:pt x="54991" y="17653"/>
                  </a:lnTo>
                  <a:lnTo>
                    <a:pt x="54991" y="17653"/>
                  </a:lnTo>
                  <a:cubicBezTo>
                    <a:pt x="56388" y="21082"/>
                    <a:pt x="57150" y="24765"/>
                    <a:pt x="57150" y="28575"/>
                  </a:cubicBezTo>
                  <a:lnTo>
                    <a:pt x="52324" y="28575"/>
                  </a:lnTo>
                  <a:lnTo>
                    <a:pt x="57150" y="28575"/>
                  </a:lnTo>
                  <a:moveTo>
                    <a:pt x="47625" y="28575"/>
                  </a:moveTo>
                  <a:cubicBezTo>
                    <a:pt x="47625" y="26035"/>
                    <a:pt x="47117" y="23622"/>
                    <a:pt x="46228" y="21336"/>
                  </a:cubicBezTo>
                  <a:lnTo>
                    <a:pt x="50673" y="19558"/>
                  </a:lnTo>
                  <a:lnTo>
                    <a:pt x="46228" y="21336"/>
                  </a:lnTo>
                  <a:cubicBezTo>
                    <a:pt x="45212" y="19050"/>
                    <a:pt x="43942" y="16891"/>
                    <a:pt x="42164" y="15113"/>
                  </a:cubicBezTo>
                  <a:lnTo>
                    <a:pt x="42164" y="15113"/>
                  </a:lnTo>
                  <a:lnTo>
                    <a:pt x="42164" y="15113"/>
                  </a:lnTo>
                  <a:cubicBezTo>
                    <a:pt x="40386" y="13335"/>
                    <a:pt x="38354" y="11938"/>
                    <a:pt x="35941" y="11049"/>
                  </a:cubicBezTo>
                  <a:lnTo>
                    <a:pt x="37719" y="6604"/>
                  </a:lnTo>
                  <a:lnTo>
                    <a:pt x="35814" y="10922"/>
                  </a:lnTo>
                  <a:cubicBezTo>
                    <a:pt x="33528" y="10033"/>
                    <a:pt x="31115" y="9525"/>
                    <a:pt x="28575" y="9525"/>
                  </a:cubicBezTo>
                  <a:cubicBezTo>
                    <a:pt x="26035" y="9525"/>
                    <a:pt x="23622" y="10033"/>
                    <a:pt x="21336" y="10922"/>
                  </a:cubicBezTo>
                  <a:lnTo>
                    <a:pt x="19431" y="6604"/>
                  </a:lnTo>
                  <a:lnTo>
                    <a:pt x="21209" y="11049"/>
                  </a:lnTo>
                  <a:cubicBezTo>
                    <a:pt x="18923" y="12065"/>
                    <a:pt x="16764" y="13335"/>
                    <a:pt x="14986" y="15113"/>
                  </a:cubicBezTo>
                  <a:cubicBezTo>
                    <a:pt x="13208" y="16891"/>
                    <a:pt x="11811" y="18923"/>
                    <a:pt x="10922" y="21336"/>
                  </a:cubicBezTo>
                  <a:lnTo>
                    <a:pt x="6604" y="19431"/>
                  </a:lnTo>
                  <a:lnTo>
                    <a:pt x="11049" y="21209"/>
                  </a:lnTo>
                  <a:cubicBezTo>
                    <a:pt x="10033" y="23622"/>
                    <a:pt x="9652" y="26035"/>
                    <a:pt x="9652" y="28448"/>
                  </a:cubicBezTo>
                  <a:cubicBezTo>
                    <a:pt x="9652" y="30861"/>
                    <a:pt x="10160" y="33401"/>
                    <a:pt x="11049" y="35687"/>
                  </a:cubicBezTo>
                  <a:lnTo>
                    <a:pt x="6604" y="37465"/>
                  </a:lnTo>
                  <a:lnTo>
                    <a:pt x="11049" y="35687"/>
                  </a:lnTo>
                  <a:cubicBezTo>
                    <a:pt x="12065" y="37973"/>
                    <a:pt x="13335" y="40132"/>
                    <a:pt x="15113" y="41910"/>
                  </a:cubicBezTo>
                  <a:lnTo>
                    <a:pt x="11684" y="45339"/>
                  </a:lnTo>
                  <a:lnTo>
                    <a:pt x="15113" y="41910"/>
                  </a:lnTo>
                  <a:cubicBezTo>
                    <a:pt x="16891" y="43688"/>
                    <a:pt x="18923" y="45085"/>
                    <a:pt x="21336" y="45974"/>
                  </a:cubicBezTo>
                  <a:lnTo>
                    <a:pt x="19558" y="50419"/>
                  </a:lnTo>
                  <a:lnTo>
                    <a:pt x="21336" y="45974"/>
                  </a:lnTo>
                  <a:cubicBezTo>
                    <a:pt x="23749" y="46990"/>
                    <a:pt x="26162" y="47371"/>
                    <a:pt x="28575" y="47371"/>
                  </a:cubicBezTo>
                  <a:cubicBezTo>
                    <a:pt x="30988" y="47371"/>
                    <a:pt x="33528" y="46863"/>
                    <a:pt x="35814" y="45974"/>
                  </a:cubicBezTo>
                  <a:lnTo>
                    <a:pt x="37592" y="50419"/>
                  </a:lnTo>
                  <a:lnTo>
                    <a:pt x="35814" y="45974"/>
                  </a:lnTo>
                  <a:cubicBezTo>
                    <a:pt x="38100" y="44958"/>
                    <a:pt x="40259" y="43688"/>
                    <a:pt x="42037" y="41910"/>
                  </a:cubicBezTo>
                  <a:lnTo>
                    <a:pt x="42037" y="41910"/>
                  </a:lnTo>
                  <a:lnTo>
                    <a:pt x="42037" y="41910"/>
                  </a:lnTo>
                  <a:cubicBezTo>
                    <a:pt x="43815" y="40132"/>
                    <a:pt x="45212" y="38100"/>
                    <a:pt x="46101" y="35687"/>
                  </a:cubicBezTo>
                  <a:lnTo>
                    <a:pt x="50546" y="37465"/>
                  </a:lnTo>
                  <a:lnTo>
                    <a:pt x="46101" y="35687"/>
                  </a:lnTo>
                  <a:cubicBezTo>
                    <a:pt x="47117" y="33274"/>
                    <a:pt x="47498" y="30861"/>
                    <a:pt x="47498" y="28448"/>
                  </a:cubicBezTo>
                  <a:close/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777038" y="6507154"/>
            <a:ext cx="57150" cy="57150"/>
            <a:chOff x="0" y="0"/>
            <a:chExt cx="57150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lnTo>
                    <a:pt x="50546" y="37719"/>
                  </a:lnTo>
                  <a:lnTo>
                    <a:pt x="54991" y="39497"/>
                  </a:lnTo>
                  <a:cubicBezTo>
                    <a:pt x="53594" y="43053"/>
                    <a:pt x="51435" y="46101"/>
                    <a:pt x="48768" y="48768"/>
                  </a:cubicBezTo>
                  <a:lnTo>
                    <a:pt x="45466" y="45339"/>
                  </a:lnTo>
                  <a:lnTo>
                    <a:pt x="48895" y="48768"/>
                  </a:lnTo>
                  <a:cubicBezTo>
                    <a:pt x="46228" y="51435"/>
                    <a:pt x="43053" y="53467"/>
                    <a:pt x="39624" y="54991"/>
                  </a:cubicBezTo>
                  <a:lnTo>
                    <a:pt x="39624" y="54991"/>
                  </a:lnTo>
                  <a:lnTo>
                    <a:pt x="39624" y="54991"/>
                  </a:lnTo>
                  <a:cubicBezTo>
                    <a:pt x="36068" y="56388"/>
                    <a:pt x="32512" y="57150"/>
                    <a:pt x="28702" y="57150"/>
                  </a:cubicBezTo>
                  <a:lnTo>
                    <a:pt x="28702" y="52324"/>
                  </a:lnTo>
                  <a:lnTo>
                    <a:pt x="28702" y="57150"/>
                  </a:lnTo>
                  <a:cubicBezTo>
                    <a:pt x="24892" y="57150"/>
                    <a:pt x="21209" y="56388"/>
                    <a:pt x="17780" y="54991"/>
                  </a:cubicBezTo>
                  <a:lnTo>
                    <a:pt x="17780" y="54991"/>
                  </a:lnTo>
                  <a:lnTo>
                    <a:pt x="17780" y="54991"/>
                  </a:lnTo>
                  <a:cubicBezTo>
                    <a:pt x="14351" y="53594"/>
                    <a:pt x="11176" y="51435"/>
                    <a:pt x="8509" y="48768"/>
                  </a:cubicBezTo>
                  <a:lnTo>
                    <a:pt x="11811" y="45339"/>
                  </a:lnTo>
                  <a:lnTo>
                    <a:pt x="8509" y="48768"/>
                  </a:lnTo>
                  <a:cubicBezTo>
                    <a:pt x="5715" y="46101"/>
                    <a:pt x="3683" y="43053"/>
                    <a:pt x="2159" y="39497"/>
                  </a:cubicBezTo>
                  <a:lnTo>
                    <a:pt x="6604" y="37719"/>
                  </a:lnTo>
                  <a:lnTo>
                    <a:pt x="2159" y="39497"/>
                  </a:lnTo>
                  <a:cubicBezTo>
                    <a:pt x="762" y="36068"/>
                    <a:pt x="0" y="32385"/>
                    <a:pt x="0" y="28575"/>
                  </a:cubicBezTo>
                  <a:lnTo>
                    <a:pt x="4826" y="28575"/>
                  </a:lnTo>
                  <a:lnTo>
                    <a:pt x="0" y="28575"/>
                  </a:lnTo>
                  <a:cubicBezTo>
                    <a:pt x="0" y="24765"/>
                    <a:pt x="762" y="21082"/>
                    <a:pt x="2159" y="17653"/>
                  </a:cubicBezTo>
                  <a:lnTo>
                    <a:pt x="2159" y="17653"/>
                  </a:lnTo>
                  <a:lnTo>
                    <a:pt x="2159" y="17653"/>
                  </a:lnTo>
                  <a:cubicBezTo>
                    <a:pt x="3683" y="14097"/>
                    <a:pt x="5715" y="11049"/>
                    <a:pt x="8382" y="8382"/>
                  </a:cubicBezTo>
                  <a:lnTo>
                    <a:pt x="11684" y="11684"/>
                  </a:lnTo>
                  <a:lnTo>
                    <a:pt x="8382" y="8382"/>
                  </a:lnTo>
                  <a:cubicBezTo>
                    <a:pt x="11049" y="5715"/>
                    <a:pt x="14224" y="3683"/>
                    <a:pt x="17653" y="2159"/>
                  </a:cubicBezTo>
                  <a:lnTo>
                    <a:pt x="17653" y="2159"/>
                  </a:lnTo>
                  <a:lnTo>
                    <a:pt x="17653" y="2159"/>
                  </a:lnTo>
                  <a:cubicBezTo>
                    <a:pt x="21082" y="762"/>
                    <a:pt x="24765" y="0"/>
                    <a:pt x="28575" y="0"/>
                  </a:cubicBezTo>
                  <a:lnTo>
                    <a:pt x="28575" y="4826"/>
                  </a:lnTo>
                  <a:lnTo>
                    <a:pt x="28575" y="0"/>
                  </a:lnTo>
                  <a:cubicBezTo>
                    <a:pt x="32385" y="0"/>
                    <a:pt x="36068" y="762"/>
                    <a:pt x="39497" y="2159"/>
                  </a:cubicBezTo>
                  <a:lnTo>
                    <a:pt x="39497" y="2159"/>
                  </a:lnTo>
                  <a:lnTo>
                    <a:pt x="39497" y="2159"/>
                  </a:lnTo>
                  <a:cubicBezTo>
                    <a:pt x="42926" y="3556"/>
                    <a:pt x="46101" y="5715"/>
                    <a:pt x="48768" y="8382"/>
                  </a:cubicBezTo>
                  <a:lnTo>
                    <a:pt x="45466" y="11684"/>
                  </a:lnTo>
                  <a:lnTo>
                    <a:pt x="48768" y="8382"/>
                  </a:lnTo>
                  <a:cubicBezTo>
                    <a:pt x="51435" y="11049"/>
                    <a:pt x="53467" y="14224"/>
                    <a:pt x="54991" y="17653"/>
                  </a:cubicBezTo>
                  <a:lnTo>
                    <a:pt x="54991" y="17653"/>
                  </a:lnTo>
                  <a:lnTo>
                    <a:pt x="54991" y="17653"/>
                  </a:lnTo>
                  <a:cubicBezTo>
                    <a:pt x="56388" y="21082"/>
                    <a:pt x="57150" y="24765"/>
                    <a:pt x="57150" y="28575"/>
                  </a:cubicBezTo>
                  <a:lnTo>
                    <a:pt x="52324" y="28575"/>
                  </a:lnTo>
                  <a:lnTo>
                    <a:pt x="57150" y="28575"/>
                  </a:lnTo>
                  <a:moveTo>
                    <a:pt x="47625" y="28575"/>
                  </a:moveTo>
                  <a:cubicBezTo>
                    <a:pt x="47625" y="26035"/>
                    <a:pt x="47117" y="23622"/>
                    <a:pt x="46228" y="21336"/>
                  </a:cubicBezTo>
                  <a:lnTo>
                    <a:pt x="50673" y="19558"/>
                  </a:lnTo>
                  <a:lnTo>
                    <a:pt x="46228" y="21336"/>
                  </a:lnTo>
                  <a:cubicBezTo>
                    <a:pt x="45212" y="19050"/>
                    <a:pt x="43942" y="16891"/>
                    <a:pt x="42164" y="15113"/>
                  </a:cubicBezTo>
                  <a:lnTo>
                    <a:pt x="42164" y="15113"/>
                  </a:lnTo>
                  <a:lnTo>
                    <a:pt x="42164" y="15113"/>
                  </a:lnTo>
                  <a:cubicBezTo>
                    <a:pt x="40386" y="13335"/>
                    <a:pt x="38354" y="11938"/>
                    <a:pt x="35941" y="11049"/>
                  </a:cubicBezTo>
                  <a:lnTo>
                    <a:pt x="37719" y="6604"/>
                  </a:lnTo>
                  <a:lnTo>
                    <a:pt x="35814" y="10922"/>
                  </a:lnTo>
                  <a:cubicBezTo>
                    <a:pt x="33528" y="10033"/>
                    <a:pt x="31115" y="9525"/>
                    <a:pt x="28575" y="9525"/>
                  </a:cubicBezTo>
                  <a:cubicBezTo>
                    <a:pt x="26035" y="9525"/>
                    <a:pt x="23622" y="10033"/>
                    <a:pt x="21336" y="10922"/>
                  </a:cubicBezTo>
                  <a:lnTo>
                    <a:pt x="19431" y="6604"/>
                  </a:lnTo>
                  <a:lnTo>
                    <a:pt x="21209" y="11049"/>
                  </a:lnTo>
                  <a:cubicBezTo>
                    <a:pt x="18923" y="12065"/>
                    <a:pt x="16764" y="13335"/>
                    <a:pt x="14986" y="15113"/>
                  </a:cubicBezTo>
                  <a:cubicBezTo>
                    <a:pt x="13208" y="16891"/>
                    <a:pt x="11811" y="18923"/>
                    <a:pt x="10922" y="21336"/>
                  </a:cubicBezTo>
                  <a:lnTo>
                    <a:pt x="6604" y="19431"/>
                  </a:lnTo>
                  <a:lnTo>
                    <a:pt x="11049" y="21209"/>
                  </a:lnTo>
                  <a:cubicBezTo>
                    <a:pt x="10033" y="23622"/>
                    <a:pt x="9652" y="26035"/>
                    <a:pt x="9652" y="28448"/>
                  </a:cubicBezTo>
                  <a:cubicBezTo>
                    <a:pt x="9652" y="30861"/>
                    <a:pt x="10160" y="33401"/>
                    <a:pt x="11049" y="35687"/>
                  </a:cubicBezTo>
                  <a:lnTo>
                    <a:pt x="11049" y="35687"/>
                  </a:lnTo>
                  <a:lnTo>
                    <a:pt x="11049" y="35687"/>
                  </a:lnTo>
                  <a:cubicBezTo>
                    <a:pt x="12065" y="37973"/>
                    <a:pt x="13335" y="40132"/>
                    <a:pt x="15113" y="41910"/>
                  </a:cubicBezTo>
                  <a:cubicBezTo>
                    <a:pt x="16891" y="43688"/>
                    <a:pt x="18923" y="45085"/>
                    <a:pt x="21336" y="46101"/>
                  </a:cubicBezTo>
                  <a:lnTo>
                    <a:pt x="19558" y="50546"/>
                  </a:lnTo>
                  <a:lnTo>
                    <a:pt x="21336" y="46101"/>
                  </a:lnTo>
                  <a:cubicBezTo>
                    <a:pt x="23622" y="47117"/>
                    <a:pt x="26035" y="47498"/>
                    <a:pt x="28575" y="47498"/>
                  </a:cubicBezTo>
                  <a:cubicBezTo>
                    <a:pt x="31115" y="47498"/>
                    <a:pt x="33528" y="46990"/>
                    <a:pt x="35814" y="46101"/>
                  </a:cubicBezTo>
                  <a:lnTo>
                    <a:pt x="37592" y="50546"/>
                  </a:lnTo>
                  <a:lnTo>
                    <a:pt x="35814" y="46101"/>
                  </a:lnTo>
                  <a:cubicBezTo>
                    <a:pt x="38100" y="45085"/>
                    <a:pt x="40259" y="43815"/>
                    <a:pt x="42037" y="41910"/>
                  </a:cubicBezTo>
                  <a:lnTo>
                    <a:pt x="42037" y="41910"/>
                  </a:lnTo>
                  <a:lnTo>
                    <a:pt x="42037" y="41910"/>
                  </a:lnTo>
                  <a:cubicBezTo>
                    <a:pt x="43815" y="40132"/>
                    <a:pt x="45212" y="38100"/>
                    <a:pt x="46101" y="35687"/>
                  </a:cubicBezTo>
                  <a:lnTo>
                    <a:pt x="46101" y="35687"/>
                  </a:lnTo>
                  <a:lnTo>
                    <a:pt x="46101" y="35687"/>
                  </a:lnTo>
                  <a:cubicBezTo>
                    <a:pt x="47117" y="33401"/>
                    <a:pt x="47498" y="30861"/>
                    <a:pt x="47498" y="28448"/>
                  </a:cubicBezTo>
                  <a:close/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934325" y="4511667"/>
            <a:ext cx="57150" cy="228600"/>
            <a:chOff x="0" y="0"/>
            <a:chExt cx="57150" cy="228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228600"/>
            </a:xfrm>
            <a:custGeom>
              <a:avLst/>
              <a:gdLst/>
              <a:ahLst/>
              <a:cxnLst/>
              <a:rect l="l" t="t" r="r" b="b"/>
              <a:pathLst>
                <a:path w="57150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5687" y="0"/>
                  </a:lnTo>
                  <a:cubicBezTo>
                    <a:pt x="38481" y="0"/>
                    <a:pt x="41275" y="508"/>
                    <a:pt x="43942" y="1651"/>
                  </a:cubicBezTo>
                  <a:cubicBezTo>
                    <a:pt x="46609" y="2794"/>
                    <a:pt x="48895" y="4318"/>
                    <a:pt x="50927" y="6223"/>
                  </a:cubicBezTo>
                  <a:cubicBezTo>
                    <a:pt x="52959" y="8128"/>
                    <a:pt x="54483" y="10541"/>
                    <a:pt x="55499" y="13208"/>
                  </a:cubicBezTo>
                  <a:cubicBezTo>
                    <a:pt x="56515" y="15875"/>
                    <a:pt x="57150" y="18542"/>
                    <a:pt x="57150" y="21463"/>
                  </a:cubicBezTo>
                  <a:lnTo>
                    <a:pt x="57150" y="207137"/>
                  </a:lnTo>
                  <a:cubicBezTo>
                    <a:pt x="57150" y="209931"/>
                    <a:pt x="56642" y="212725"/>
                    <a:pt x="55499" y="215392"/>
                  </a:cubicBezTo>
                  <a:cubicBezTo>
                    <a:pt x="54356" y="218059"/>
                    <a:pt x="52832" y="220345"/>
                    <a:pt x="50927" y="222377"/>
                  </a:cubicBezTo>
                  <a:cubicBezTo>
                    <a:pt x="49022" y="224409"/>
                    <a:pt x="46609" y="225933"/>
                    <a:pt x="43942" y="226949"/>
                  </a:cubicBezTo>
                  <a:cubicBezTo>
                    <a:pt x="41275" y="227965"/>
                    <a:pt x="38608" y="228600"/>
                    <a:pt x="3568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118347" y="5343514"/>
            <a:ext cx="2070097" cy="1650997"/>
            <a:chOff x="0" y="0"/>
            <a:chExt cx="2070100" cy="1651000"/>
          </a:xfrm>
        </p:grpSpPr>
        <p:sp>
          <p:nvSpPr>
            <p:cNvPr id="14" name="Freeform 14"/>
            <p:cNvSpPr/>
            <p:nvPr/>
          </p:nvSpPr>
          <p:spPr>
            <a:xfrm>
              <a:off x="511175" y="63627"/>
              <a:ext cx="57150" cy="228473"/>
            </a:xfrm>
            <a:custGeom>
              <a:avLst/>
              <a:gdLst/>
              <a:ahLst/>
              <a:cxnLst/>
              <a:rect l="l" t="t" r="r" b="b"/>
              <a:pathLst>
                <a:path w="57150" h="228473">
                  <a:moveTo>
                    <a:pt x="0" y="207010"/>
                  </a:moveTo>
                  <a:lnTo>
                    <a:pt x="0" y="21336"/>
                  </a:lnTo>
                  <a:cubicBezTo>
                    <a:pt x="0" y="18542"/>
                    <a:pt x="508" y="15748"/>
                    <a:pt x="1651" y="13208"/>
                  </a:cubicBezTo>
                  <a:cubicBezTo>
                    <a:pt x="2794" y="10668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5687" y="0"/>
                  </a:lnTo>
                  <a:cubicBezTo>
                    <a:pt x="38481" y="0"/>
                    <a:pt x="41275" y="508"/>
                    <a:pt x="43942" y="1651"/>
                  </a:cubicBezTo>
                  <a:cubicBezTo>
                    <a:pt x="46609" y="2794"/>
                    <a:pt x="48895" y="4318"/>
                    <a:pt x="50927" y="6223"/>
                  </a:cubicBezTo>
                  <a:cubicBezTo>
                    <a:pt x="52959" y="8128"/>
                    <a:pt x="54483" y="10541"/>
                    <a:pt x="55499" y="13208"/>
                  </a:cubicBezTo>
                  <a:cubicBezTo>
                    <a:pt x="56515" y="15875"/>
                    <a:pt x="57150" y="18542"/>
                    <a:pt x="57150" y="21336"/>
                  </a:cubicBezTo>
                  <a:lnTo>
                    <a:pt x="57150" y="207010"/>
                  </a:lnTo>
                  <a:cubicBezTo>
                    <a:pt x="57150" y="209804"/>
                    <a:pt x="56642" y="212598"/>
                    <a:pt x="55499" y="215265"/>
                  </a:cubicBezTo>
                  <a:cubicBezTo>
                    <a:pt x="54356" y="217932"/>
                    <a:pt x="52832" y="220218"/>
                    <a:pt x="50927" y="222250"/>
                  </a:cubicBezTo>
                  <a:cubicBezTo>
                    <a:pt x="49022" y="224282"/>
                    <a:pt x="46609" y="225806"/>
                    <a:pt x="43942" y="226822"/>
                  </a:cubicBezTo>
                  <a:cubicBezTo>
                    <a:pt x="41275" y="227838"/>
                    <a:pt x="38608" y="228473"/>
                    <a:pt x="35687" y="228473"/>
                  </a:cubicBezTo>
                  <a:lnTo>
                    <a:pt x="21463" y="228473"/>
                  </a:lnTo>
                  <a:cubicBezTo>
                    <a:pt x="18669" y="228473"/>
                    <a:pt x="15875" y="227965"/>
                    <a:pt x="13208" y="226822"/>
                  </a:cubicBezTo>
                  <a:cubicBezTo>
                    <a:pt x="10541" y="225679"/>
                    <a:pt x="8255" y="224155"/>
                    <a:pt x="6223" y="222250"/>
                  </a:cubicBezTo>
                  <a:cubicBezTo>
                    <a:pt x="4191" y="220345"/>
                    <a:pt x="2667" y="217932"/>
                    <a:pt x="1651" y="215265"/>
                  </a:cubicBezTo>
                  <a:cubicBezTo>
                    <a:pt x="635" y="212598"/>
                    <a:pt x="0" y="209931"/>
                    <a:pt x="0" y="207010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815975" y="63627"/>
              <a:ext cx="66802" cy="228473"/>
            </a:xfrm>
            <a:custGeom>
              <a:avLst/>
              <a:gdLst/>
              <a:ahLst/>
              <a:cxnLst/>
              <a:rect l="l" t="t" r="r" b="b"/>
              <a:pathLst>
                <a:path w="66802" h="228473">
                  <a:moveTo>
                    <a:pt x="0" y="207010"/>
                  </a:moveTo>
                  <a:lnTo>
                    <a:pt x="0" y="21336"/>
                  </a:lnTo>
                  <a:cubicBezTo>
                    <a:pt x="0" y="18542"/>
                    <a:pt x="508" y="15748"/>
                    <a:pt x="1651" y="13208"/>
                  </a:cubicBezTo>
                  <a:cubicBezTo>
                    <a:pt x="2794" y="10668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45339" y="0"/>
                  </a:lnTo>
                  <a:cubicBezTo>
                    <a:pt x="48133" y="0"/>
                    <a:pt x="50927" y="508"/>
                    <a:pt x="53594" y="1651"/>
                  </a:cubicBezTo>
                  <a:cubicBezTo>
                    <a:pt x="56261" y="2794"/>
                    <a:pt x="58547" y="4318"/>
                    <a:pt x="60579" y="6223"/>
                  </a:cubicBezTo>
                  <a:cubicBezTo>
                    <a:pt x="62611" y="8128"/>
                    <a:pt x="64135" y="10541"/>
                    <a:pt x="65151" y="13208"/>
                  </a:cubicBezTo>
                  <a:cubicBezTo>
                    <a:pt x="66167" y="15875"/>
                    <a:pt x="66802" y="18542"/>
                    <a:pt x="66802" y="21336"/>
                  </a:cubicBezTo>
                  <a:lnTo>
                    <a:pt x="66802" y="207010"/>
                  </a:lnTo>
                  <a:cubicBezTo>
                    <a:pt x="66802" y="209804"/>
                    <a:pt x="66294" y="212598"/>
                    <a:pt x="65151" y="215265"/>
                  </a:cubicBezTo>
                  <a:cubicBezTo>
                    <a:pt x="64008" y="217932"/>
                    <a:pt x="62484" y="220218"/>
                    <a:pt x="60579" y="222250"/>
                  </a:cubicBezTo>
                  <a:cubicBezTo>
                    <a:pt x="58674" y="224282"/>
                    <a:pt x="56261" y="225806"/>
                    <a:pt x="53594" y="226822"/>
                  </a:cubicBezTo>
                  <a:cubicBezTo>
                    <a:pt x="50927" y="227838"/>
                    <a:pt x="48260" y="228473"/>
                    <a:pt x="45339" y="228473"/>
                  </a:cubicBezTo>
                  <a:lnTo>
                    <a:pt x="21463" y="228473"/>
                  </a:lnTo>
                  <a:cubicBezTo>
                    <a:pt x="18669" y="228473"/>
                    <a:pt x="15875" y="227965"/>
                    <a:pt x="13208" y="226822"/>
                  </a:cubicBezTo>
                  <a:cubicBezTo>
                    <a:pt x="10541" y="225679"/>
                    <a:pt x="8255" y="224155"/>
                    <a:pt x="6223" y="222250"/>
                  </a:cubicBezTo>
                  <a:cubicBezTo>
                    <a:pt x="4191" y="220345"/>
                    <a:pt x="2667" y="217932"/>
                    <a:pt x="1651" y="215265"/>
                  </a:cubicBezTo>
                  <a:cubicBezTo>
                    <a:pt x="635" y="212598"/>
                    <a:pt x="0" y="209931"/>
                    <a:pt x="0" y="207010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3500" y="416052"/>
              <a:ext cx="1181100" cy="228473"/>
            </a:xfrm>
            <a:custGeom>
              <a:avLst/>
              <a:gdLst/>
              <a:ahLst/>
              <a:cxnLst/>
              <a:rect l="l" t="t" r="r" b="b"/>
              <a:pathLst>
                <a:path w="1181100" h="228473">
                  <a:moveTo>
                    <a:pt x="0" y="207010"/>
                  </a:moveTo>
                  <a:lnTo>
                    <a:pt x="0" y="21336"/>
                  </a:lnTo>
                  <a:cubicBezTo>
                    <a:pt x="0" y="18542"/>
                    <a:pt x="508" y="15748"/>
                    <a:pt x="1651" y="13208"/>
                  </a:cubicBezTo>
                  <a:cubicBezTo>
                    <a:pt x="2794" y="10668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1159637" y="0"/>
                  </a:lnTo>
                  <a:cubicBezTo>
                    <a:pt x="1162431" y="0"/>
                    <a:pt x="1165225" y="508"/>
                    <a:pt x="1167892" y="1651"/>
                  </a:cubicBezTo>
                  <a:cubicBezTo>
                    <a:pt x="1170559" y="2794"/>
                    <a:pt x="1172845" y="4318"/>
                    <a:pt x="1174877" y="6223"/>
                  </a:cubicBezTo>
                  <a:cubicBezTo>
                    <a:pt x="1176909" y="8128"/>
                    <a:pt x="1178433" y="10541"/>
                    <a:pt x="1179449" y="13208"/>
                  </a:cubicBezTo>
                  <a:cubicBezTo>
                    <a:pt x="1180465" y="15875"/>
                    <a:pt x="1181100" y="18542"/>
                    <a:pt x="1181100" y="21336"/>
                  </a:cubicBezTo>
                  <a:lnTo>
                    <a:pt x="1181100" y="207010"/>
                  </a:lnTo>
                  <a:cubicBezTo>
                    <a:pt x="1181100" y="209804"/>
                    <a:pt x="1180592" y="212598"/>
                    <a:pt x="1179449" y="215265"/>
                  </a:cubicBezTo>
                  <a:cubicBezTo>
                    <a:pt x="1178306" y="217932"/>
                    <a:pt x="1176782" y="220218"/>
                    <a:pt x="1174877" y="222250"/>
                  </a:cubicBezTo>
                  <a:cubicBezTo>
                    <a:pt x="1172972" y="224282"/>
                    <a:pt x="1170559" y="225806"/>
                    <a:pt x="1167892" y="226822"/>
                  </a:cubicBezTo>
                  <a:cubicBezTo>
                    <a:pt x="1165225" y="227838"/>
                    <a:pt x="1162558" y="228473"/>
                    <a:pt x="1159637" y="228473"/>
                  </a:cubicBezTo>
                  <a:lnTo>
                    <a:pt x="21463" y="228473"/>
                  </a:lnTo>
                  <a:cubicBezTo>
                    <a:pt x="18669" y="228473"/>
                    <a:pt x="15875" y="227965"/>
                    <a:pt x="13208" y="226822"/>
                  </a:cubicBezTo>
                  <a:cubicBezTo>
                    <a:pt x="10541" y="225679"/>
                    <a:pt x="8255" y="224155"/>
                    <a:pt x="6223" y="222250"/>
                  </a:cubicBezTo>
                  <a:cubicBezTo>
                    <a:pt x="4191" y="220345"/>
                    <a:pt x="2667" y="217932"/>
                    <a:pt x="1651" y="215265"/>
                  </a:cubicBezTo>
                  <a:cubicBezTo>
                    <a:pt x="635" y="212598"/>
                    <a:pt x="0" y="209931"/>
                    <a:pt x="0" y="207010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006475" y="711327"/>
              <a:ext cx="1000379" cy="228473"/>
            </a:xfrm>
            <a:custGeom>
              <a:avLst/>
              <a:gdLst/>
              <a:ahLst/>
              <a:cxnLst/>
              <a:rect l="l" t="t" r="r" b="b"/>
              <a:pathLst>
                <a:path w="1000379" h="228473">
                  <a:moveTo>
                    <a:pt x="0" y="207010"/>
                  </a:moveTo>
                  <a:lnTo>
                    <a:pt x="0" y="21336"/>
                  </a:lnTo>
                  <a:cubicBezTo>
                    <a:pt x="0" y="18542"/>
                    <a:pt x="508" y="15748"/>
                    <a:pt x="1651" y="13208"/>
                  </a:cubicBezTo>
                  <a:cubicBezTo>
                    <a:pt x="2794" y="10668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978789" y="0"/>
                  </a:lnTo>
                  <a:cubicBezTo>
                    <a:pt x="981583" y="0"/>
                    <a:pt x="984377" y="508"/>
                    <a:pt x="987044" y="1651"/>
                  </a:cubicBezTo>
                  <a:cubicBezTo>
                    <a:pt x="989711" y="2794"/>
                    <a:pt x="991997" y="4318"/>
                    <a:pt x="994029" y="6223"/>
                  </a:cubicBezTo>
                  <a:cubicBezTo>
                    <a:pt x="996061" y="8128"/>
                    <a:pt x="997585" y="10541"/>
                    <a:pt x="998728" y="13208"/>
                  </a:cubicBezTo>
                  <a:cubicBezTo>
                    <a:pt x="999871" y="15875"/>
                    <a:pt x="1000379" y="18542"/>
                    <a:pt x="1000379" y="21336"/>
                  </a:cubicBezTo>
                  <a:lnTo>
                    <a:pt x="1000379" y="207010"/>
                  </a:lnTo>
                  <a:cubicBezTo>
                    <a:pt x="1000379" y="209804"/>
                    <a:pt x="999871" y="212598"/>
                    <a:pt x="998728" y="215265"/>
                  </a:cubicBezTo>
                  <a:cubicBezTo>
                    <a:pt x="997585" y="217932"/>
                    <a:pt x="996061" y="220218"/>
                    <a:pt x="994029" y="222250"/>
                  </a:cubicBezTo>
                  <a:cubicBezTo>
                    <a:pt x="991997" y="224282"/>
                    <a:pt x="989711" y="225806"/>
                    <a:pt x="987044" y="226822"/>
                  </a:cubicBezTo>
                  <a:cubicBezTo>
                    <a:pt x="984377" y="227838"/>
                    <a:pt x="981710" y="228473"/>
                    <a:pt x="978789" y="228473"/>
                  </a:cubicBezTo>
                  <a:lnTo>
                    <a:pt x="21463" y="228473"/>
                  </a:lnTo>
                  <a:cubicBezTo>
                    <a:pt x="18669" y="228473"/>
                    <a:pt x="15875" y="227965"/>
                    <a:pt x="13208" y="226822"/>
                  </a:cubicBezTo>
                  <a:cubicBezTo>
                    <a:pt x="10541" y="225679"/>
                    <a:pt x="8255" y="224155"/>
                    <a:pt x="6223" y="222250"/>
                  </a:cubicBezTo>
                  <a:cubicBezTo>
                    <a:pt x="4191" y="220345"/>
                    <a:pt x="2667" y="217932"/>
                    <a:pt x="1651" y="215265"/>
                  </a:cubicBezTo>
                  <a:cubicBezTo>
                    <a:pt x="635" y="212598"/>
                    <a:pt x="0" y="209931"/>
                    <a:pt x="0" y="207010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3500" y="1063752"/>
              <a:ext cx="1181100" cy="228727"/>
            </a:xfrm>
            <a:custGeom>
              <a:avLst/>
              <a:gdLst/>
              <a:ahLst/>
              <a:cxnLst/>
              <a:rect l="l" t="t" r="r" b="b"/>
              <a:pathLst>
                <a:path w="1181100" h="228727">
                  <a:moveTo>
                    <a:pt x="0" y="207010"/>
                  </a:moveTo>
                  <a:lnTo>
                    <a:pt x="0" y="21336"/>
                  </a:lnTo>
                  <a:cubicBezTo>
                    <a:pt x="0" y="18542"/>
                    <a:pt x="508" y="15748"/>
                    <a:pt x="1651" y="13208"/>
                  </a:cubicBezTo>
                  <a:cubicBezTo>
                    <a:pt x="2794" y="10668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1159637" y="0"/>
                  </a:lnTo>
                  <a:cubicBezTo>
                    <a:pt x="1162431" y="0"/>
                    <a:pt x="1165225" y="508"/>
                    <a:pt x="1167892" y="1651"/>
                  </a:cubicBezTo>
                  <a:cubicBezTo>
                    <a:pt x="1170559" y="2794"/>
                    <a:pt x="1172845" y="4318"/>
                    <a:pt x="1174877" y="6223"/>
                  </a:cubicBezTo>
                  <a:cubicBezTo>
                    <a:pt x="1176909" y="8128"/>
                    <a:pt x="1178433" y="10541"/>
                    <a:pt x="1179449" y="13208"/>
                  </a:cubicBezTo>
                  <a:cubicBezTo>
                    <a:pt x="1180465" y="15875"/>
                    <a:pt x="1181100" y="18542"/>
                    <a:pt x="1181100" y="21336"/>
                  </a:cubicBezTo>
                  <a:lnTo>
                    <a:pt x="1181100" y="207137"/>
                  </a:lnTo>
                  <a:cubicBezTo>
                    <a:pt x="1181100" y="209931"/>
                    <a:pt x="1180592" y="212725"/>
                    <a:pt x="1179449" y="215392"/>
                  </a:cubicBezTo>
                  <a:cubicBezTo>
                    <a:pt x="1178306" y="218059"/>
                    <a:pt x="1176782" y="220345"/>
                    <a:pt x="1174877" y="222377"/>
                  </a:cubicBezTo>
                  <a:cubicBezTo>
                    <a:pt x="1172972" y="224409"/>
                    <a:pt x="1170559" y="225933"/>
                    <a:pt x="1167892" y="227076"/>
                  </a:cubicBezTo>
                  <a:cubicBezTo>
                    <a:pt x="1165225" y="228219"/>
                    <a:pt x="1162558" y="228727"/>
                    <a:pt x="1159637" y="228727"/>
                  </a:cubicBezTo>
                  <a:lnTo>
                    <a:pt x="21463" y="228727"/>
                  </a:lnTo>
                  <a:cubicBezTo>
                    <a:pt x="18669" y="228727"/>
                    <a:pt x="15875" y="228219"/>
                    <a:pt x="13208" y="227076"/>
                  </a:cubicBezTo>
                  <a:cubicBezTo>
                    <a:pt x="10541" y="225933"/>
                    <a:pt x="8255" y="224409"/>
                    <a:pt x="6223" y="222377"/>
                  </a:cubicBezTo>
                  <a:cubicBezTo>
                    <a:pt x="4191" y="220345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006475" y="1358773"/>
              <a:ext cx="876427" cy="228854"/>
            </a:xfrm>
            <a:custGeom>
              <a:avLst/>
              <a:gdLst/>
              <a:ahLst/>
              <a:cxnLst/>
              <a:rect l="l" t="t" r="r" b="b"/>
              <a:pathLst>
                <a:path w="876427" h="228854">
                  <a:moveTo>
                    <a:pt x="0" y="207264"/>
                  </a:moveTo>
                  <a:lnTo>
                    <a:pt x="0" y="21590"/>
                  </a:lnTo>
                  <a:cubicBezTo>
                    <a:pt x="0" y="18796"/>
                    <a:pt x="508" y="16002"/>
                    <a:pt x="1651" y="13335"/>
                  </a:cubicBezTo>
                  <a:cubicBezTo>
                    <a:pt x="2794" y="10668"/>
                    <a:pt x="4318" y="8382"/>
                    <a:pt x="6223" y="6350"/>
                  </a:cubicBezTo>
                  <a:cubicBezTo>
                    <a:pt x="8128" y="4318"/>
                    <a:pt x="10541" y="2794"/>
                    <a:pt x="13208" y="1651"/>
                  </a:cubicBezTo>
                  <a:cubicBezTo>
                    <a:pt x="15875" y="508"/>
                    <a:pt x="18542" y="0"/>
                    <a:pt x="21463" y="0"/>
                  </a:cubicBezTo>
                  <a:lnTo>
                    <a:pt x="854837" y="0"/>
                  </a:lnTo>
                  <a:cubicBezTo>
                    <a:pt x="857631" y="0"/>
                    <a:pt x="860425" y="508"/>
                    <a:pt x="863092" y="1651"/>
                  </a:cubicBezTo>
                  <a:cubicBezTo>
                    <a:pt x="865759" y="2794"/>
                    <a:pt x="868045" y="4318"/>
                    <a:pt x="870077" y="6350"/>
                  </a:cubicBezTo>
                  <a:cubicBezTo>
                    <a:pt x="872109" y="8382"/>
                    <a:pt x="873633" y="10668"/>
                    <a:pt x="874776" y="13335"/>
                  </a:cubicBezTo>
                  <a:cubicBezTo>
                    <a:pt x="875919" y="16002"/>
                    <a:pt x="876427" y="18669"/>
                    <a:pt x="876427" y="21590"/>
                  </a:cubicBezTo>
                  <a:lnTo>
                    <a:pt x="876427" y="207264"/>
                  </a:lnTo>
                  <a:cubicBezTo>
                    <a:pt x="876427" y="210058"/>
                    <a:pt x="875919" y="212852"/>
                    <a:pt x="874776" y="215519"/>
                  </a:cubicBezTo>
                  <a:cubicBezTo>
                    <a:pt x="873633" y="218186"/>
                    <a:pt x="872109" y="220472"/>
                    <a:pt x="870077" y="222504"/>
                  </a:cubicBezTo>
                  <a:cubicBezTo>
                    <a:pt x="868045" y="224536"/>
                    <a:pt x="865759" y="226060"/>
                    <a:pt x="863092" y="227203"/>
                  </a:cubicBezTo>
                  <a:cubicBezTo>
                    <a:pt x="860425" y="228346"/>
                    <a:pt x="857758" y="228854"/>
                    <a:pt x="854837" y="228854"/>
                  </a:cubicBezTo>
                  <a:lnTo>
                    <a:pt x="21463" y="228854"/>
                  </a:lnTo>
                  <a:cubicBezTo>
                    <a:pt x="18669" y="228854"/>
                    <a:pt x="15875" y="228346"/>
                    <a:pt x="13208" y="227203"/>
                  </a:cubicBezTo>
                  <a:cubicBezTo>
                    <a:pt x="10541" y="226060"/>
                    <a:pt x="8255" y="224536"/>
                    <a:pt x="6223" y="222504"/>
                  </a:cubicBezTo>
                  <a:cubicBezTo>
                    <a:pt x="4191" y="220472"/>
                    <a:pt x="2667" y="218186"/>
                    <a:pt x="1651" y="215519"/>
                  </a:cubicBezTo>
                  <a:cubicBezTo>
                    <a:pt x="635" y="212852"/>
                    <a:pt x="0" y="210185"/>
                    <a:pt x="0" y="207264"/>
                  </a:cubicBezTo>
                </a:path>
              </a:pathLst>
            </a:custGeom>
            <a:solidFill>
              <a:srgbClr val="EDF2E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600075" y="1810729"/>
            <a:ext cx="8747017" cy="103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Degree Computation : In-degrees  &amp; Out- degrees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74661" y="3296829"/>
            <a:ext cx="45472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3038" y="3411129"/>
            <a:ext cx="4963420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voidcomputeDegrees(intn,intgraph[n][n],intindegree[],int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3038" y="3687354"/>
            <a:ext cx="1120102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outdegree[])</a:t>
            </a:r>
            <a:r>
              <a:rPr lang="en-US" sz="135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1184" y="3954054"/>
            <a:ext cx="1858613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for(inti=0; i &lt; n; i++) {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9340" y="4211229"/>
            <a:ext cx="1858442" cy="84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indegree[i] = 0;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outdegree[i] = 0;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for(intj= 0; j &lt; n; j++) {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7486" y="5058954"/>
            <a:ext cx="2888999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if(graph[i][j] == 1)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5632" y="5325654"/>
            <a:ext cx="1247585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outdegree[i]++;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7486" y="5601879"/>
            <a:ext cx="2888999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if(graph[j][i] == 1)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75632" y="5878104"/>
            <a:ext cx="1124121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indegree[i]++;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9340" y="6154329"/>
            <a:ext cx="65580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184" y="6316254"/>
            <a:ext cx="65580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3038" y="6821079"/>
            <a:ext cx="65580" cy="145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5989" y="3197808"/>
            <a:ext cx="1619298" cy="85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Explanation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03917" y="3650931"/>
            <a:ext cx="43720" cy="37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5989" y="3765231"/>
            <a:ext cx="3924176" cy="25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Thisfunction calculates the in-degree and out-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5989" y="4041456"/>
            <a:ext cx="2875217" cy="25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degree for each node in the graph: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40128" y="4329511"/>
            <a:ext cx="4166264" cy="131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For each node i, it initializes its in-degree and out-</a:t>
            </a:r>
          </a:p>
          <a:p>
            <a:pPr algn="l">
              <a:lnSpc>
                <a:spcPts val="8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degree to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0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It then iterates through all possible connections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from node i to j: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14410" y="5577286"/>
            <a:ext cx="3553006" cy="13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If graph[i][j] == 1, it means there's an edge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from i to j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, so outdegree[i] is incremented.</a:t>
            </a:r>
          </a:p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If graph[j][i] == 1, it means there's an edge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from j to i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, so indegree[i] is incremented.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2743036"/>
            <a:ext cx="5565772" cy="2308222"/>
          </a:xfrm>
          <a:custGeom>
            <a:avLst/>
            <a:gdLst/>
            <a:ahLst/>
            <a:cxnLst/>
            <a:rect l="l" t="t" r="r" b="b"/>
            <a:pathLst>
              <a:path w="5565772" h="2308222">
                <a:moveTo>
                  <a:pt x="0" y="0"/>
                </a:moveTo>
                <a:lnTo>
                  <a:pt x="5565772" y="0"/>
                </a:lnTo>
                <a:lnTo>
                  <a:pt x="5565772" y="2308222"/>
                </a:lnTo>
                <a:lnTo>
                  <a:pt x="0" y="2308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05575" y="3406615"/>
            <a:ext cx="47625" cy="47625"/>
            <a:chOff x="0" y="0"/>
            <a:chExt cx="47625" cy="47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505575" y="4873465"/>
            <a:ext cx="47625" cy="47625"/>
            <a:chOff x="0" y="0"/>
            <a:chExt cx="47625" cy="47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734175" y="3301840"/>
            <a:ext cx="1133475" cy="228600"/>
            <a:chOff x="0" y="0"/>
            <a:chExt cx="1133475" cy="228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3475" cy="228600"/>
            </a:xfrm>
            <a:custGeom>
              <a:avLst/>
              <a:gdLst/>
              <a:ahLst/>
              <a:cxnLst/>
              <a:rect l="l" t="t" r="r" b="b"/>
              <a:pathLst>
                <a:path w="1133475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112012" y="0"/>
                  </a:lnTo>
                  <a:cubicBezTo>
                    <a:pt x="1114806" y="0"/>
                    <a:pt x="1117600" y="508"/>
                    <a:pt x="1120267" y="1651"/>
                  </a:cubicBezTo>
                  <a:cubicBezTo>
                    <a:pt x="1122934" y="2794"/>
                    <a:pt x="1125220" y="4318"/>
                    <a:pt x="1127252" y="6350"/>
                  </a:cubicBezTo>
                  <a:cubicBezTo>
                    <a:pt x="1129284" y="8382"/>
                    <a:pt x="1130808" y="10668"/>
                    <a:pt x="1131824" y="13335"/>
                  </a:cubicBezTo>
                  <a:cubicBezTo>
                    <a:pt x="1132840" y="16002"/>
                    <a:pt x="1133475" y="18669"/>
                    <a:pt x="1133475" y="21590"/>
                  </a:cubicBezTo>
                  <a:lnTo>
                    <a:pt x="1133475" y="207137"/>
                  </a:lnTo>
                  <a:cubicBezTo>
                    <a:pt x="1133475" y="209931"/>
                    <a:pt x="1132967" y="212725"/>
                    <a:pt x="1131824" y="215265"/>
                  </a:cubicBezTo>
                  <a:cubicBezTo>
                    <a:pt x="1130681" y="217805"/>
                    <a:pt x="1129157" y="220218"/>
                    <a:pt x="1127252" y="222250"/>
                  </a:cubicBezTo>
                  <a:cubicBezTo>
                    <a:pt x="1125347" y="224282"/>
                    <a:pt x="1122934" y="225806"/>
                    <a:pt x="1120267" y="226949"/>
                  </a:cubicBezTo>
                  <a:cubicBezTo>
                    <a:pt x="1117600" y="228092"/>
                    <a:pt x="1114933" y="228600"/>
                    <a:pt x="111201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734175" y="4768690"/>
            <a:ext cx="2219325" cy="228600"/>
            <a:chOff x="0" y="0"/>
            <a:chExt cx="2219325" cy="228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9325" cy="228600"/>
            </a:xfrm>
            <a:custGeom>
              <a:avLst/>
              <a:gdLst/>
              <a:ahLst/>
              <a:cxnLst/>
              <a:rect l="l" t="t" r="r" b="b"/>
              <a:pathLst>
                <a:path w="2219325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197862" y="0"/>
                  </a:lnTo>
                  <a:cubicBezTo>
                    <a:pt x="2200656" y="0"/>
                    <a:pt x="2203450" y="508"/>
                    <a:pt x="2206117" y="1651"/>
                  </a:cubicBezTo>
                  <a:cubicBezTo>
                    <a:pt x="2208784" y="2794"/>
                    <a:pt x="2211070" y="4318"/>
                    <a:pt x="2213102" y="6350"/>
                  </a:cubicBezTo>
                  <a:cubicBezTo>
                    <a:pt x="2215134" y="8382"/>
                    <a:pt x="2216658" y="10668"/>
                    <a:pt x="2217674" y="13335"/>
                  </a:cubicBezTo>
                  <a:cubicBezTo>
                    <a:pt x="2218690" y="16002"/>
                    <a:pt x="2219325" y="18669"/>
                    <a:pt x="2219325" y="21590"/>
                  </a:cubicBezTo>
                  <a:lnTo>
                    <a:pt x="2219325" y="207137"/>
                  </a:lnTo>
                  <a:cubicBezTo>
                    <a:pt x="2219325" y="209931"/>
                    <a:pt x="2218817" y="212725"/>
                    <a:pt x="2217674" y="215265"/>
                  </a:cubicBezTo>
                  <a:cubicBezTo>
                    <a:pt x="2216531" y="217805"/>
                    <a:pt x="2215007" y="220218"/>
                    <a:pt x="2213102" y="222250"/>
                  </a:cubicBezTo>
                  <a:cubicBezTo>
                    <a:pt x="2211197" y="224282"/>
                    <a:pt x="2208784" y="225806"/>
                    <a:pt x="2206117" y="226949"/>
                  </a:cubicBezTo>
                  <a:cubicBezTo>
                    <a:pt x="2203450" y="228092"/>
                    <a:pt x="2200783" y="228600"/>
                    <a:pt x="21978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143875" y="3597115"/>
            <a:ext cx="571500" cy="228600"/>
            <a:chOff x="0" y="0"/>
            <a:chExt cx="571500" cy="228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50037" y="0"/>
                  </a:lnTo>
                  <a:cubicBezTo>
                    <a:pt x="552831" y="0"/>
                    <a:pt x="555625" y="508"/>
                    <a:pt x="558292" y="1651"/>
                  </a:cubicBezTo>
                  <a:cubicBezTo>
                    <a:pt x="560959" y="2794"/>
                    <a:pt x="563245" y="4318"/>
                    <a:pt x="565277" y="6223"/>
                  </a:cubicBezTo>
                  <a:cubicBezTo>
                    <a:pt x="567309" y="8128"/>
                    <a:pt x="568833" y="10541"/>
                    <a:pt x="569849" y="13208"/>
                  </a:cubicBezTo>
                  <a:cubicBezTo>
                    <a:pt x="570865" y="15875"/>
                    <a:pt x="571500" y="18542"/>
                    <a:pt x="571500" y="21463"/>
                  </a:cubicBezTo>
                  <a:lnTo>
                    <a:pt x="571500" y="207137"/>
                  </a:lnTo>
                  <a:cubicBezTo>
                    <a:pt x="571500" y="209931"/>
                    <a:pt x="570992" y="212725"/>
                    <a:pt x="569849" y="215265"/>
                  </a:cubicBezTo>
                  <a:cubicBezTo>
                    <a:pt x="568706" y="217805"/>
                    <a:pt x="567182" y="220218"/>
                    <a:pt x="565277" y="222250"/>
                  </a:cubicBezTo>
                  <a:cubicBezTo>
                    <a:pt x="563372" y="224282"/>
                    <a:pt x="560959" y="225806"/>
                    <a:pt x="558292" y="226949"/>
                  </a:cubicBezTo>
                  <a:cubicBezTo>
                    <a:pt x="555625" y="228092"/>
                    <a:pt x="552958" y="228600"/>
                    <a:pt x="55003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0382250" y="5063965"/>
            <a:ext cx="123825" cy="228600"/>
            <a:chOff x="0" y="0"/>
            <a:chExt cx="123825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952" cy="228600"/>
            </a:xfrm>
            <a:custGeom>
              <a:avLst/>
              <a:gdLst/>
              <a:ahLst/>
              <a:cxnLst/>
              <a:rect l="l" t="t" r="r" b="b"/>
              <a:pathLst>
                <a:path w="12395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02362" y="0"/>
                  </a:lnTo>
                  <a:cubicBezTo>
                    <a:pt x="105156" y="0"/>
                    <a:pt x="107950" y="508"/>
                    <a:pt x="110617" y="1651"/>
                  </a:cubicBezTo>
                  <a:cubicBezTo>
                    <a:pt x="113284" y="2794"/>
                    <a:pt x="115570" y="4318"/>
                    <a:pt x="117602" y="6350"/>
                  </a:cubicBezTo>
                  <a:cubicBezTo>
                    <a:pt x="119634" y="8382"/>
                    <a:pt x="121158" y="10668"/>
                    <a:pt x="122301" y="13335"/>
                  </a:cubicBezTo>
                  <a:cubicBezTo>
                    <a:pt x="123444" y="16002"/>
                    <a:pt x="123952" y="18669"/>
                    <a:pt x="123952" y="21590"/>
                  </a:cubicBezTo>
                  <a:lnTo>
                    <a:pt x="123952" y="207137"/>
                  </a:lnTo>
                  <a:cubicBezTo>
                    <a:pt x="123952" y="209931"/>
                    <a:pt x="123444" y="212725"/>
                    <a:pt x="122301" y="215265"/>
                  </a:cubicBezTo>
                  <a:cubicBezTo>
                    <a:pt x="121158" y="217805"/>
                    <a:pt x="119634" y="220218"/>
                    <a:pt x="117602" y="222250"/>
                  </a:cubicBezTo>
                  <a:cubicBezTo>
                    <a:pt x="115570" y="224282"/>
                    <a:pt x="113284" y="225806"/>
                    <a:pt x="110617" y="226949"/>
                  </a:cubicBezTo>
                  <a:cubicBezTo>
                    <a:pt x="107950" y="228092"/>
                    <a:pt x="105283" y="228600"/>
                    <a:pt x="1023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00075" y="2077277"/>
            <a:ext cx="9270578" cy="28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Main Function : Setting Up the Experiment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20504" y="2791852"/>
            <a:ext cx="45472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3038" y="2906152"/>
            <a:ext cx="883663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int main(){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3038" y="3182377"/>
            <a:ext cx="4232081" cy="25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srand(time(0));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038" y="3458602"/>
            <a:ext cx="45472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184" y="3458602"/>
            <a:ext cx="3496351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int sizes[] = {1000, 2000, 3000, 4000, 5000};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3959" y="3820947"/>
            <a:ext cx="4850997" cy="272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int numSizes = 5;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5989" y="2759505"/>
            <a:ext cx="161929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Explanation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0119" y="3230002"/>
            <a:ext cx="4177370" cy="315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srand(time(0)): Initializes the random number generator. Using time(0) as the seed ensures that </a:t>
            </a:r>
          </a:p>
          <a:p>
            <a:pPr algn="l">
              <a:lnSpc>
                <a:spcPts val="21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each run of the program generates a different set of random graphs, making the results more robust.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int sizes[] = {1000, ..., 5000};: Defines an array of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integers representing the different values of n </a:t>
            </a:r>
          </a:p>
          <a:p>
            <a:pPr algn="l">
              <a:lnSpc>
                <a:spcPts val="30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(number of nodes) for which the experiment will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be conducted. This allows us to test the </a:t>
            </a:r>
          </a:p>
          <a:p>
            <a:pPr algn="l">
              <a:lnSpc>
                <a:spcPts val="29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algorithm's performance across varying graph </a:t>
            </a:r>
          </a:p>
          <a:p>
            <a:pPr algn="l">
              <a:lnSpc>
                <a:spcPts val="14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sizes.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5980" y="6451128"/>
            <a:ext cx="4126363" cy="65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This setup prepares the environment for the core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experimental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2295514"/>
            <a:ext cx="5565772" cy="5318122"/>
          </a:xfrm>
          <a:custGeom>
            <a:avLst/>
            <a:gdLst/>
            <a:ahLst/>
            <a:cxnLst/>
            <a:rect l="l" t="t" r="r" b="b"/>
            <a:pathLst>
              <a:path w="5565772" h="5318122">
                <a:moveTo>
                  <a:pt x="0" y="0"/>
                </a:moveTo>
                <a:lnTo>
                  <a:pt x="5565772" y="0"/>
                </a:lnTo>
                <a:lnTo>
                  <a:pt x="5565772" y="5318122"/>
                </a:lnTo>
                <a:lnTo>
                  <a:pt x="0" y="5318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05575" y="2940042"/>
            <a:ext cx="47625" cy="47625"/>
            <a:chOff x="0" y="0"/>
            <a:chExt cx="47625" cy="47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505575" y="3578217"/>
            <a:ext cx="47625" cy="47625"/>
            <a:chOff x="0" y="0"/>
            <a:chExt cx="47625" cy="47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505575" y="4778367"/>
            <a:ext cx="47625" cy="47625"/>
            <a:chOff x="0" y="0"/>
            <a:chExt cx="47625" cy="47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505575" y="5426067"/>
            <a:ext cx="47625" cy="47625"/>
            <a:chOff x="0" y="0"/>
            <a:chExt cx="47625" cy="476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153275" y="3121017"/>
            <a:ext cx="123825" cy="228600"/>
            <a:chOff x="0" y="0"/>
            <a:chExt cx="123825" cy="228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952" cy="228600"/>
            </a:xfrm>
            <a:custGeom>
              <a:avLst/>
              <a:gdLst/>
              <a:ahLst/>
              <a:cxnLst/>
              <a:rect l="l" t="t" r="r" b="b"/>
              <a:pathLst>
                <a:path w="12395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02362" y="0"/>
                  </a:lnTo>
                  <a:cubicBezTo>
                    <a:pt x="105156" y="0"/>
                    <a:pt x="107950" y="508"/>
                    <a:pt x="110617" y="1651"/>
                  </a:cubicBezTo>
                  <a:cubicBezTo>
                    <a:pt x="113284" y="2794"/>
                    <a:pt x="115570" y="4318"/>
                    <a:pt x="117602" y="6223"/>
                  </a:cubicBezTo>
                  <a:cubicBezTo>
                    <a:pt x="119634" y="8128"/>
                    <a:pt x="121158" y="10541"/>
                    <a:pt x="122301" y="13208"/>
                  </a:cubicBezTo>
                  <a:cubicBezTo>
                    <a:pt x="123444" y="15875"/>
                    <a:pt x="123952" y="18542"/>
                    <a:pt x="123952" y="21463"/>
                  </a:cubicBezTo>
                  <a:lnTo>
                    <a:pt x="123952" y="207137"/>
                  </a:lnTo>
                  <a:cubicBezTo>
                    <a:pt x="123952" y="209931"/>
                    <a:pt x="123444" y="212725"/>
                    <a:pt x="122301" y="215392"/>
                  </a:cubicBezTo>
                  <a:cubicBezTo>
                    <a:pt x="121158" y="218059"/>
                    <a:pt x="119634" y="220345"/>
                    <a:pt x="117602" y="222377"/>
                  </a:cubicBezTo>
                  <a:cubicBezTo>
                    <a:pt x="115570" y="224409"/>
                    <a:pt x="113284" y="225933"/>
                    <a:pt x="110617" y="226949"/>
                  </a:cubicBezTo>
                  <a:cubicBezTo>
                    <a:pt x="107950" y="227965"/>
                    <a:pt x="105283" y="228600"/>
                    <a:pt x="1023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524" y="215392"/>
                  </a:cubicBezTo>
                  <a:cubicBezTo>
                    <a:pt x="381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6734175" y="5883267"/>
            <a:ext cx="1381125" cy="228600"/>
            <a:chOff x="0" y="0"/>
            <a:chExt cx="1381125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1125" cy="228727"/>
            </a:xfrm>
            <a:custGeom>
              <a:avLst/>
              <a:gdLst/>
              <a:ahLst/>
              <a:cxnLst/>
              <a:rect l="l" t="t" r="r" b="b"/>
              <a:pathLst>
                <a:path w="1381125" h="228727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359662" y="0"/>
                  </a:lnTo>
                  <a:cubicBezTo>
                    <a:pt x="1362456" y="0"/>
                    <a:pt x="1365250" y="508"/>
                    <a:pt x="1367917" y="1651"/>
                  </a:cubicBezTo>
                  <a:cubicBezTo>
                    <a:pt x="1370584" y="2794"/>
                    <a:pt x="1372870" y="4318"/>
                    <a:pt x="1374902" y="6223"/>
                  </a:cubicBezTo>
                  <a:cubicBezTo>
                    <a:pt x="1376934" y="8128"/>
                    <a:pt x="1378458" y="10541"/>
                    <a:pt x="1379474" y="13208"/>
                  </a:cubicBezTo>
                  <a:cubicBezTo>
                    <a:pt x="1380490" y="15875"/>
                    <a:pt x="1381125" y="18542"/>
                    <a:pt x="1381125" y="21336"/>
                  </a:cubicBezTo>
                  <a:lnTo>
                    <a:pt x="1381125" y="207137"/>
                  </a:lnTo>
                  <a:cubicBezTo>
                    <a:pt x="1381125" y="209931"/>
                    <a:pt x="1380617" y="212725"/>
                    <a:pt x="1379474" y="215392"/>
                  </a:cubicBezTo>
                  <a:cubicBezTo>
                    <a:pt x="1378331" y="218059"/>
                    <a:pt x="1376807" y="220345"/>
                    <a:pt x="1374902" y="222377"/>
                  </a:cubicBezTo>
                  <a:cubicBezTo>
                    <a:pt x="1372997" y="224409"/>
                    <a:pt x="1370584" y="225933"/>
                    <a:pt x="1367917" y="227076"/>
                  </a:cubicBezTo>
                  <a:cubicBezTo>
                    <a:pt x="1365250" y="228219"/>
                    <a:pt x="1362583" y="228727"/>
                    <a:pt x="1359662" y="228727"/>
                  </a:cubicBezTo>
                  <a:lnTo>
                    <a:pt x="21463" y="228727"/>
                  </a:lnTo>
                  <a:cubicBezTo>
                    <a:pt x="18669" y="228727"/>
                    <a:pt x="15875" y="228219"/>
                    <a:pt x="13208" y="227076"/>
                  </a:cubicBezTo>
                  <a:cubicBezTo>
                    <a:pt x="10541" y="225933"/>
                    <a:pt x="8255" y="224409"/>
                    <a:pt x="6223" y="222377"/>
                  </a:cubicBezTo>
                  <a:cubicBezTo>
                    <a:pt x="4191" y="220345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534400" y="5321292"/>
            <a:ext cx="523875" cy="228600"/>
            <a:chOff x="0" y="0"/>
            <a:chExt cx="523875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4002" cy="228600"/>
            </a:xfrm>
            <a:custGeom>
              <a:avLst/>
              <a:gdLst/>
              <a:ahLst/>
              <a:cxnLst/>
              <a:rect l="l" t="t" r="r" b="b"/>
              <a:pathLst>
                <a:path w="52400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02412" y="0"/>
                  </a:lnTo>
                  <a:cubicBezTo>
                    <a:pt x="505206" y="0"/>
                    <a:pt x="508000" y="508"/>
                    <a:pt x="510667" y="1651"/>
                  </a:cubicBezTo>
                  <a:cubicBezTo>
                    <a:pt x="513334" y="2794"/>
                    <a:pt x="515620" y="4318"/>
                    <a:pt x="517652" y="6223"/>
                  </a:cubicBezTo>
                  <a:cubicBezTo>
                    <a:pt x="519684" y="8128"/>
                    <a:pt x="521208" y="10541"/>
                    <a:pt x="522351" y="13208"/>
                  </a:cubicBezTo>
                  <a:cubicBezTo>
                    <a:pt x="523494" y="15875"/>
                    <a:pt x="524002" y="18542"/>
                    <a:pt x="524002" y="21463"/>
                  </a:cubicBezTo>
                  <a:lnTo>
                    <a:pt x="524002" y="207137"/>
                  </a:lnTo>
                  <a:cubicBezTo>
                    <a:pt x="524002" y="209931"/>
                    <a:pt x="523494" y="212725"/>
                    <a:pt x="522351" y="215392"/>
                  </a:cubicBezTo>
                  <a:cubicBezTo>
                    <a:pt x="521208" y="218059"/>
                    <a:pt x="519684" y="220345"/>
                    <a:pt x="517652" y="222377"/>
                  </a:cubicBezTo>
                  <a:cubicBezTo>
                    <a:pt x="515620" y="224409"/>
                    <a:pt x="513334" y="225933"/>
                    <a:pt x="510667" y="226949"/>
                  </a:cubicBezTo>
                  <a:cubicBezTo>
                    <a:pt x="508000" y="227965"/>
                    <a:pt x="505333" y="228600"/>
                    <a:pt x="50241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8070847" y="3057514"/>
            <a:ext cx="1498597" cy="1003297"/>
            <a:chOff x="0" y="0"/>
            <a:chExt cx="1498600" cy="1003300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400177" cy="228600"/>
            </a:xfrm>
            <a:custGeom>
              <a:avLst/>
              <a:gdLst/>
              <a:ahLst/>
              <a:cxnLst/>
              <a:rect l="l" t="t" r="r" b="b"/>
              <a:pathLst>
                <a:path w="400177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78587" y="0"/>
                  </a:lnTo>
                  <a:cubicBezTo>
                    <a:pt x="381381" y="0"/>
                    <a:pt x="384175" y="508"/>
                    <a:pt x="386842" y="1651"/>
                  </a:cubicBezTo>
                  <a:cubicBezTo>
                    <a:pt x="389509" y="2794"/>
                    <a:pt x="391795" y="4318"/>
                    <a:pt x="393827" y="6223"/>
                  </a:cubicBezTo>
                  <a:cubicBezTo>
                    <a:pt x="395859" y="8128"/>
                    <a:pt x="397383" y="10541"/>
                    <a:pt x="398526" y="13208"/>
                  </a:cubicBezTo>
                  <a:cubicBezTo>
                    <a:pt x="399669" y="15875"/>
                    <a:pt x="400177" y="18542"/>
                    <a:pt x="400177" y="21463"/>
                  </a:cubicBezTo>
                  <a:lnTo>
                    <a:pt x="400177" y="207137"/>
                  </a:lnTo>
                  <a:cubicBezTo>
                    <a:pt x="400177" y="209931"/>
                    <a:pt x="399669" y="212725"/>
                    <a:pt x="398526" y="215392"/>
                  </a:cubicBezTo>
                  <a:cubicBezTo>
                    <a:pt x="397383" y="218059"/>
                    <a:pt x="395859" y="220345"/>
                    <a:pt x="393827" y="222377"/>
                  </a:cubicBezTo>
                  <a:cubicBezTo>
                    <a:pt x="391795" y="224409"/>
                    <a:pt x="389509" y="225933"/>
                    <a:pt x="386842" y="226949"/>
                  </a:cubicBezTo>
                  <a:cubicBezTo>
                    <a:pt x="384175" y="227965"/>
                    <a:pt x="381508" y="228600"/>
                    <a:pt x="37858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8750" y="415925"/>
              <a:ext cx="485775" cy="228600"/>
            </a:xfrm>
            <a:custGeom>
              <a:avLst/>
              <a:gdLst/>
              <a:ahLst/>
              <a:cxnLst/>
              <a:rect l="l" t="t" r="r" b="b"/>
              <a:pathLst>
                <a:path w="485775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464312" y="0"/>
                  </a:lnTo>
                  <a:cubicBezTo>
                    <a:pt x="467106" y="0"/>
                    <a:pt x="469900" y="508"/>
                    <a:pt x="472567" y="1651"/>
                  </a:cubicBezTo>
                  <a:cubicBezTo>
                    <a:pt x="475234" y="2794"/>
                    <a:pt x="477520" y="4318"/>
                    <a:pt x="479552" y="6223"/>
                  </a:cubicBezTo>
                  <a:cubicBezTo>
                    <a:pt x="481584" y="8128"/>
                    <a:pt x="483108" y="10541"/>
                    <a:pt x="484124" y="13208"/>
                  </a:cubicBezTo>
                  <a:cubicBezTo>
                    <a:pt x="485140" y="15875"/>
                    <a:pt x="485775" y="18542"/>
                    <a:pt x="485775" y="21463"/>
                  </a:cubicBezTo>
                  <a:lnTo>
                    <a:pt x="485775" y="207137"/>
                  </a:lnTo>
                  <a:cubicBezTo>
                    <a:pt x="485775" y="209931"/>
                    <a:pt x="485267" y="212725"/>
                    <a:pt x="484124" y="215392"/>
                  </a:cubicBezTo>
                  <a:cubicBezTo>
                    <a:pt x="482981" y="218059"/>
                    <a:pt x="481457" y="220345"/>
                    <a:pt x="479552" y="222377"/>
                  </a:cubicBezTo>
                  <a:cubicBezTo>
                    <a:pt x="477647" y="224409"/>
                    <a:pt x="475234" y="225933"/>
                    <a:pt x="472567" y="226949"/>
                  </a:cubicBezTo>
                  <a:cubicBezTo>
                    <a:pt x="469900" y="227965"/>
                    <a:pt x="467233" y="228600"/>
                    <a:pt x="46431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711200" y="415925"/>
              <a:ext cx="723900" cy="228600"/>
            </a:xfrm>
            <a:custGeom>
              <a:avLst/>
              <a:gdLst/>
              <a:ahLst/>
              <a:cxnLst/>
              <a:rect l="l" t="t" r="r" b="b"/>
              <a:pathLst>
                <a:path w="723900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702437" y="0"/>
                  </a:lnTo>
                  <a:cubicBezTo>
                    <a:pt x="705231" y="0"/>
                    <a:pt x="708025" y="508"/>
                    <a:pt x="710692" y="1651"/>
                  </a:cubicBezTo>
                  <a:cubicBezTo>
                    <a:pt x="713359" y="2794"/>
                    <a:pt x="715645" y="4318"/>
                    <a:pt x="717677" y="6223"/>
                  </a:cubicBezTo>
                  <a:cubicBezTo>
                    <a:pt x="719709" y="8128"/>
                    <a:pt x="721233" y="10541"/>
                    <a:pt x="722249" y="13208"/>
                  </a:cubicBezTo>
                  <a:cubicBezTo>
                    <a:pt x="723265" y="15875"/>
                    <a:pt x="723900" y="18542"/>
                    <a:pt x="723900" y="21463"/>
                  </a:cubicBezTo>
                  <a:lnTo>
                    <a:pt x="723900" y="207137"/>
                  </a:lnTo>
                  <a:cubicBezTo>
                    <a:pt x="723900" y="209931"/>
                    <a:pt x="723392" y="212725"/>
                    <a:pt x="722249" y="215392"/>
                  </a:cubicBezTo>
                  <a:cubicBezTo>
                    <a:pt x="721106" y="218059"/>
                    <a:pt x="719582" y="220345"/>
                    <a:pt x="717677" y="222377"/>
                  </a:cubicBezTo>
                  <a:cubicBezTo>
                    <a:pt x="715772" y="224409"/>
                    <a:pt x="713359" y="225933"/>
                    <a:pt x="710692" y="226949"/>
                  </a:cubicBezTo>
                  <a:cubicBezTo>
                    <a:pt x="708025" y="227965"/>
                    <a:pt x="705358" y="228600"/>
                    <a:pt x="70243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54050" y="711200"/>
              <a:ext cx="581152" cy="228600"/>
            </a:xfrm>
            <a:custGeom>
              <a:avLst/>
              <a:gdLst/>
              <a:ahLst/>
              <a:cxnLst/>
              <a:rect l="l" t="t" r="r" b="b"/>
              <a:pathLst>
                <a:path w="58115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559562" y="0"/>
                  </a:lnTo>
                  <a:cubicBezTo>
                    <a:pt x="562356" y="0"/>
                    <a:pt x="565150" y="508"/>
                    <a:pt x="567817" y="1651"/>
                  </a:cubicBezTo>
                  <a:cubicBezTo>
                    <a:pt x="570484" y="2794"/>
                    <a:pt x="572770" y="4318"/>
                    <a:pt x="574802" y="6223"/>
                  </a:cubicBezTo>
                  <a:cubicBezTo>
                    <a:pt x="576834" y="8128"/>
                    <a:pt x="578358" y="10541"/>
                    <a:pt x="579501" y="13208"/>
                  </a:cubicBezTo>
                  <a:cubicBezTo>
                    <a:pt x="580644" y="15875"/>
                    <a:pt x="581152" y="18542"/>
                    <a:pt x="581152" y="21463"/>
                  </a:cubicBezTo>
                  <a:lnTo>
                    <a:pt x="581152" y="207137"/>
                  </a:lnTo>
                  <a:cubicBezTo>
                    <a:pt x="581152" y="209931"/>
                    <a:pt x="580644" y="212725"/>
                    <a:pt x="579501" y="215392"/>
                  </a:cubicBezTo>
                  <a:cubicBezTo>
                    <a:pt x="578358" y="218059"/>
                    <a:pt x="576834" y="220345"/>
                    <a:pt x="574802" y="222377"/>
                  </a:cubicBezTo>
                  <a:cubicBezTo>
                    <a:pt x="572770" y="224409"/>
                    <a:pt x="570484" y="225933"/>
                    <a:pt x="567817" y="226949"/>
                  </a:cubicBezTo>
                  <a:cubicBezTo>
                    <a:pt x="565150" y="227965"/>
                    <a:pt x="562483" y="228600"/>
                    <a:pt x="5595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8356597" y="4610089"/>
            <a:ext cx="1355722" cy="650872"/>
            <a:chOff x="0" y="0"/>
            <a:chExt cx="1355725" cy="650875"/>
          </a:xfrm>
        </p:grpSpPr>
        <p:sp>
          <p:nvSpPr>
            <p:cNvPr id="23" name="Freeform 23"/>
            <p:cNvSpPr/>
            <p:nvPr/>
          </p:nvSpPr>
          <p:spPr>
            <a:xfrm>
              <a:off x="63500" y="63500"/>
              <a:ext cx="1228979" cy="228600"/>
            </a:xfrm>
            <a:custGeom>
              <a:avLst/>
              <a:gdLst/>
              <a:ahLst/>
              <a:cxnLst/>
              <a:rect l="l" t="t" r="r" b="b"/>
              <a:pathLst>
                <a:path w="1228979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1207389" y="0"/>
                  </a:lnTo>
                  <a:cubicBezTo>
                    <a:pt x="1210183" y="0"/>
                    <a:pt x="1212977" y="508"/>
                    <a:pt x="1215644" y="1651"/>
                  </a:cubicBezTo>
                  <a:cubicBezTo>
                    <a:pt x="1218311" y="2794"/>
                    <a:pt x="1220597" y="4318"/>
                    <a:pt x="1222629" y="6223"/>
                  </a:cubicBezTo>
                  <a:cubicBezTo>
                    <a:pt x="1224661" y="8128"/>
                    <a:pt x="1226185" y="10541"/>
                    <a:pt x="1227328" y="13208"/>
                  </a:cubicBezTo>
                  <a:cubicBezTo>
                    <a:pt x="1228471" y="15875"/>
                    <a:pt x="1228979" y="18542"/>
                    <a:pt x="1228979" y="21463"/>
                  </a:cubicBezTo>
                  <a:lnTo>
                    <a:pt x="1228979" y="207137"/>
                  </a:lnTo>
                  <a:cubicBezTo>
                    <a:pt x="1228979" y="209931"/>
                    <a:pt x="1228471" y="212725"/>
                    <a:pt x="1227328" y="215392"/>
                  </a:cubicBezTo>
                  <a:cubicBezTo>
                    <a:pt x="1226185" y="218059"/>
                    <a:pt x="1224661" y="220345"/>
                    <a:pt x="1222629" y="222377"/>
                  </a:cubicBezTo>
                  <a:cubicBezTo>
                    <a:pt x="1220597" y="224409"/>
                    <a:pt x="1218311" y="225933"/>
                    <a:pt x="1215644" y="226949"/>
                  </a:cubicBezTo>
                  <a:cubicBezTo>
                    <a:pt x="1212977" y="227965"/>
                    <a:pt x="1210310" y="228600"/>
                    <a:pt x="1207389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073023" y="358775"/>
              <a:ext cx="114554" cy="228600"/>
            </a:xfrm>
            <a:custGeom>
              <a:avLst/>
              <a:gdLst/>
              <a:ahLst/>
              <a:cxnLst/>
              <a:rect l="l" t="t" r="r" b="b"/>
              <a:pathLst>
                <a:path w="114554" h="228600">
                  <a:moveTo>
                    <a:pt x="127" y="2071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93091" y="0"/>
                  </a:lnTo>
                  <a:cubicBezTo>
                    <a:pt x="95885" y="0"/>
                    <a:pt x="98679" y="508"/>
                    <a:pt x="101346" y="1651"/>
                  </a:cubicBezTo>
                  <a:cubicBezTo>
                    <a:pt x="104013" y="2794"/>
                    <a:pt x="106299" y="4318"/>
                    <a:pt x="108331" y="6223"/>
                  </a:cubicBezTo>
                  <a:cubicBezTo>
                    <a:pt x="110363" y="8128"/>
                    <a:pt x="111887" y="10541"/>
                    <a:pt x="112903" y="13208"/>
                  </a:cubicBezTo>
                  <a:cubicBezTo>
                    <a:pt x="113919" y="15875"/>
                    <a:pt x="114554" y="18542"/>
                    <a:pt x="114554" y="21463"/>
                  </a:cubicBezTo>
                  <a:lnTo>
                    <a:pt x="114554" y="207137"/>
                  </a:lnTo>
                  <a:cubicBezTo>
                    <a:pt x="114554" y="209931"/>
                    <a:pt x="114046" y="212725"/>
                    <a:pt x="112903" y="215392"/>
                  </a:cubicBezTo>
                  <a:cubicBezTo>
                    <a:pt x="111760" y="218059"/>
                    <a:pt x="110236" y="220345"/>
                    <a:pt x="108331" y="222377"/>
                  </a:cubicBezTo>
                  <a:cubicBezTo>
                    <a:pt x="106426" y="224409"/>
                    <a:pt x="104013" y="225933"/>
                    <a:pt x="101346" y="226949"/>
                  </a:cubicBezTo>
                  <a:cubicBezTo>
                    <a:pt x="98679" y="227965"/>
                    <a:pt x="96012" y="228600"/>
                    <a:pt x="93091" y="228600"/>
                  </a:cubicBezTo>
                  <a:lnTo>
                    <a:pt x="21590" y="228600"/>
                  </a:lnTo>
                  <a:cubicBezTo>
                    <a:pt x="18796" y="228600"/>
                    <a:pt x="16002" y="228092"/>
                    <a:pt x="13335" y="226949"/>
                  </a:cubicBezTo>
                  <a:cubicBezTo>
                    <a:pt x="10668" y="225806"/>
                    <a:pt x="8382" y="224282"/>
                    <a:pt x="6350" y="222377"/>
                  </a:cubicBezTo>
                  <a:cubicBezTo>
                    <a:pt x="4318" y="220472"/>
                    <a:pt x="2794" y="218059"/>
                    <a:pt x="1651" y="215392"/>
                  </a:cubicBezTo>
                  <a:cubicBezTo>
                    <a:pt x="508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9934575" y="3473442"/>
            <a:ext cx="838200" cy="228600"/>
            <a:chOff x="0" y="0"/>
            <a:chExt cx="838200" cy="228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38327" cy="228600"/>
            </a:xfrm>
            <a:custGeom>
              <a:avLst/>
              <a:gdLst/>
              <a:ahLst/>
              <a:cxnLst/>
              <a:rect l="l" t="t" r="r" b="b"/>
              <a:pathLst>
                <a:path w="838327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816737" y="0"/>
                  </a:lnTo>
                  <a:cubicBezTo>
                    <a:pt x="819531" y="0"/>
                    <a:pt x="822325" y="508"/>
                    <a:pt x="824992" y="1651"/>
                  </a:cubicBezTo>
                  <a:cubicBezTo>
                    <a:pt x="827659" y="2794"/>
                    <a:pt x="829945" y="4318"/>
                    <a:pt x="831977" y="6223"/>
                  </a:cubicBezTo>
                  <a:cubicBezTo>
                    <a:pt x="834009" y="8128"/>
                    <a:pt x="835533" y="10541"/>
                    <a:pt x="836676" y="13208"/>
                  </a:cubicBezTo>
                  <a:cubicBezTo>
                    <a:pt x="837819" y="15875"/>
                    <a:pt x="838327" y="18542"/>
                    <a:pt x="838327" y="21463"/>
                  </a:cubicBezTo>
                  <a:lnTo>
                    <a:pt x="838327" y="207137"/>
                  </a:lnTo>
                  <a:cubicBezTo>
                    <a:pt x="838327" y="209931"/>
                    <a:pt x="837819" y="212725"/>
                    <a:pt x="836676" y="215392"/>
                  </a:cubicBezTo>
                  <a:cubicBezTo>
                    <a:pt x="835533" y="218059"/>
                    <a:pt x="834009" y="220345"/>
                    <a:pt x="831977" y="222377"/>
                  </a:cubicBezTo>
                  <a:cubicBezTo>
                    <a:pt x="829945" y="224409"/>
                    <a:pt x="827659" y="225933"/>
                    <a:pt x="824992" y="226949"/>
                  </a:cubicBezTo>
                  <a:cubicBezTo>
                    <a:pt x="822325" y="227965"/>
                    <a:pt x="819658" y="228600"/>
                    <a:pt x="81673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377"/>
                  </a:cubicBezTo>
                  <a:cubicBezTo>
                    <a:pt x="4191" y="220472"/>
                    <a:pt x="2667" y="218059"/>
                    <a:pt x="1651" y="215392"/>
                  </a:cubicBezTo>
                  <a:cubicBezTo>
                    <a:pt x="635" y="212725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600075" y="1629754"/>
            <a:ext cx="9751495" cy="28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Main Function : The Core Experimental Loop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55219" y="2344329"/>
            <a:ext cx="45472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3038" y="2458629"/>
            <a:ext cx="2649417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for (int s = 0;s&lt;numSizes;s++){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3038" y="2725329"/>
            <a:ext cx="45472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184" y="2725329"/>
            <a:ext cx="1192149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int n = sizes[s];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3038" y="3001554"/>
            <a:ext cx="485388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static int graph[MAX_N][MAX_N]; </a:t>
            </a:r>
          </a:p>
          <a:p>
            <a:pPr algn="l">
              <a:lnSpc>
                <a:spcPts val="2160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int indegree[MAX_N], outdegree[MAX_N];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3038" y="3982629"/>
            <a:ext cx="5163712" cy="181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clock_t start = clock();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computeDegrees(n, graph, indegree, outdegree); </a:t>
            </a:r>
          </a:p>
          <a:p>
            <a:pPr algn="l">
              <a:lnSpc>
                <a:spcPts val="974"/>
              </a:lnSpc>
            </a:pPr>
            <a:endParaRPr lang="en-US" sz="1350">
              <a:solidFill>
                <a:srgbClr val="405449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clock_t end = clock();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double timeTaken = ((double)(end - start)) * 1000.0 / </a:t>
            </a:r>
          </a:p>
          <a:p>
            <a:pPr algn="l">
              <a:lnSpc>
                <a:spcPts val="32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CLOCKS_PER_SEC;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8618" y="3982629"/>
            <a:ext cx="3343685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generateGraph(n, graph);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3038" y="6935379"/>
            <a:ext cx="65580" cy="45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l">
              <a:lnSpc>
                <a:spcPts val="32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5989" y="2245308"/>
            <a:ext cx="1619298" cy="85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Explanation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40135" y="2698431"/>
            <a:ext cx="43720" cy="37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40128" y="2803206"/>
            <a:ext cx="4150338" cy="27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Iteration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Theloop runs for each specified graph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9957" y="3043636"/>
            <a:ext cx="4201535" cy="314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size (n) from the sizes array.</a:t>
            </a:r>
          </a:p>
          <a:p>
            <a:pPr algn="l">
              <a:lnSpc>
                <a:spcPts val="3299"/>
              </a:lnSpc>
            </a:pPr>
            <a:r>
              <a:rPr lang="en-US" sz="1350" b="1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Dynamic Arrays</a:t>
            </a:r>
            <a:r>
              <a:rPr lang="en-US" sz="1350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graph, indegree, and outdegree </a:t>
            </a:r>
          </a:p>
          <a:p>
            <a:pPr algn="l">
              <a:lnSpc>
                <a:spcPts val="135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arrays are declared with MAX_N size to </a:t>
            </a:r>
          </a:p>
          <a:p>
            <a:pPr algn="l">
              <a:lnSpc>
                <a:spcPts val="2999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accommodate the largest possible graph, reused </a:t>
            </a:r>
          </a:p>
          <a:p>
            <a:pPr algn="l">
              <a:lnSpc>
                <a:spcPts val="1350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for each iteration.</a:t>
            </a:r>
          </a:p>
          <a:p>
            <a:pPr algn="l">
              <a:lnSpc>
                <a:spcPts val="33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Graph Generation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generateGraph populates the </a:t>
            </a:r>
          </a:p>
          <a:p>
            <a:pPr algn="l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adjacency matrix for the current n.</a:t>
            </a:r>
          </a:p>
          <a:p>
            <a:pPr algn="l">
              <a:lnSpc>
                <a:spcPts val="33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Time Measurement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clock() is used to capture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 start and end times around the </a:t>
            </a:r>
          </a:p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computeDegrees function call, allowing precise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measurement of its execution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2429016"/>
            <a:ext cx="5565772" cy="5051431"/>
          </a:xfrm>
          <a:custGeom>
            <a:avLst/>
            <a:gdLst/>
            <a:ahLst/>
            <a:cxnLst/>
            <a:rect l="l" t="t" r="r" b="b"/>
            <a:pathLst>
              <a:path w="5565772" h="5051431">
                <a:moveTo>
                  <a:pt x="0" y="0"/>
                </a:moveTo>
                <a:lnTo>
                  <a:pt x="5565772" y="0"/>
                </a:lnTo>
                <a:lnTo>
                  <a:pt x="5565772" y="5051432"/>
                </a:lnTo>
                <a:lnTo>
                  <a:pt x="0" y="5051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05575" y="3073544"/>
            <a:ext cx="47625" cy="47625"/>
            <a:chOff x="0" y="0"/>
            <a:chExt cx="47625" cy="47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505575" y="3683144"/>
            <a:ext cx="47625" cy="47625"/>
            <a:chOff x="0" y="0"/>
            <a:chExt cx="47625" cy="47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505575" y="5388119"/>
            <a:ext cx="47625" cy="47625"/>
            <a:chOff x="0" y="0"/>
            <a:chExt cx="47625" cy="47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800850" y="5578619"/>
            <a:ext cx="123825" cy="228600"/>
            <a:chOff x="0" y="0"/>
            <a:chExt cx="123825" cy="228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825" cy="228600"/>
            </a:xfrm>
            <a:custGeom>
              <a:avLst/>
              <a:gdLst/>
              <a:ahLst/>
              <a:cxnLst/>
              <a:rect l="l" t="t" r="r" b="b"/>
              <a:pathLst>
                <a:path w="123825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02362" y="0"/>
                  </a:lnTo>
                  <a:cubicBezTo>
                    <a:pt x="105156" y="0"/>
                    <a:pt x="107950" y="508"/>
                    <a:pt x="110617" y="1651"/>
                  </a:cubicBezTo>
                  <a:cubicBezTo>
                    <a:pt x="113284" y="2794"/>
                    <a:pt x="115570" y="4318"/>
                    <a:pt x="117602" y="6350"/>
                  </a:cubicBezTo>
                  <a:cubicBezTo>
                    <a:pt x="119634" y="8382"/>
                    <a:pt x="121158" y="10668"/>
                    <a:pt x="122174" y="13335"/>
                  </a:cubicBezTo>
                  <a:cubicBezTo>
                    <a:pt x="123190" y="16002"/>
                    <a:pt x="123825" y="18669"/>
                    <a:pt x="123825" y="21590"/>
                  </a:cubicBezTo>
                  <a:lnTo>
                    <a:pt x="123825" y="207137"/>
                  </a:lnTo>
                  <a:cubicBezTo>
                    <a:pt x="123825" y="209931"/>
                    <a:pt x="123317" y="212725"/>
                    <a:pt x="122174" y="215265"/>
                  </a:cubicBezTo>
                  <a:cubicBezTo>
                    <a:pt x="121031" y="217805"/>
                    <a:pt x="119507" y="220218"/>
                    <a:pt x="117602" y="222250"/>
                  </a:cubicBezTo>
                  <a:cubicBezTo>
                    <a:pt x="115697" y="224282"/>
                    <a:pt x="113284" y="225806"/>
                    <a:pt x="110617" y="226949"/>
                  </a:cubicBezTo>
                  <a:cubicBezTo>
                    <a:pt x="107950" y="228092"/>
                    <a:pt x="105283" y="228600"/>
                    <a:pt x="1023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400925" y="6140594"/>
            <a:ext cx="114300" cy="228600"/>
            <a:chOff x="0" y="0"/>
            <a:chExt cx="114300" cy="228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300" cy="228600"/>
            </a:xfrm>
            <a:custGeom>
              <a:avLst/>
              <a:gdLst/>
              <a:ahLst/>
              <a:cxnLst/>
              <a:rect l="l" t="t" r="r" b="b"/>
              <a:pathLst>
                <a:path w="114300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92837" y="0"/>
                  </a:lnTo>
                  <a:cubicBezTo>
                    <a:pt x="95631" y="0"/>
                    <a:pt x="98425" y="508"/>
                    <a:pt x="101092" y="1651"/>
                  </a:cubicBezTo>
                  <a:cubicBezTo>
                    <a:pt x="103759" y="2794"/>
                    <a:pt x="106045" y="4318"/>
                    <a:pt x="108077" y="6350"/>
                  </a:cubicBezTo>
                  <a:cubicBezTo>
                    <a:pt x="110109" y="8382"/>
                    <a:pt x="111633" y="10668"/>
                    <a:pt x="112649" y="13335"/>
                  </a:cubicBezTo>
                  <a:cubicBezTo>
                    <a:pt x="113665" y="16002"/>
                    <a:pt x="114300" y="18669"/>
                    <a:pt x="114300" y="21590"/>
                  </a:cubicBezTo>
                  <a:lnTo>
                    <a:pt x="114300" y="207137"/>
                  </a:lnTo>
                  <a:cubicBezTo>
                    <a:pt x="114300" y="209931"/>
                    <a:pt x="113792" y="212725"/>
                    <a:pt x="112649" y="215265"/>
                  </a:cubicBezTo>
                  <a:cubicBezTo>
                    <a:pt x="111506" y="217805"/>
                    <a:pt x="109982" y="220218"/>
                    <a:pt x="108077" y="222250"/>
                  </a:cubicBezTo>
                  <a:cubicBezTo>
                    <a:pt x="106172" y="224282"/>
                    <a:pt x="103759" y="225806"/>
                    <a:pt x="101092" y="226949"/>
                  </a:cubicBezTo>
                  <a:cubicBezTo>
                    <a:pt x="98425" y="228092"/>
                    <a:pt x="95758" y="228600"/>
                    <a:pt x="9283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00075" y="1763257"/>
            <a:ext cx="9974675" cy="28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Main Function : Verification &amp; Results Output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7586" y="2477832"/>
            <a:ext cx="45472" cy="38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3038" y="2592132"/>
            <a:ext cx="2861034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long long sumIn = 0, sumOut=0;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3038" y="2868357"/>
            <a:ext cx="45472" cy="10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just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just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just">
              <a:lnSpc>
                <a:spcPts val="2025"/>
              </a:lnSpc>
            </a:pPr>
            <a:r>
              <a:rPr lang="en-US" sz="1350" spc="1051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184" y="2868357"/>
            <a:ext cx="1858613" cy="26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for (int i = 0; i &lt; n; i++) {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9340" y="3135057"/>
            <a:ext cx="1996592" cy="54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sumIn += indegree[i];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sumOut += outdegree[i];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184" y="3697032"/>
            <a:ext cx="65580" cy="26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1051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3038" y="4125657"/>
            <a:ext cx="4096379" cy="1479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printf("For n = %d:\n", n);</a:t>
            </a:r>
          </a:p>
          <a:p>
            <a:pPr algn="l">
              <a:lnSpc>
                <a:spcPts val="8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printf(" Sum of In-degrees = %lld\n", sumIn);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printf(" Sum of Out-degrees = %lld\n", sumOut);  if (sumIn == sumOut) {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3038" y="5725857"/>
            <a:ext cx="45472" cy="97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just">
              <a:lnSpc>
                <a:spcPts val="32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just">
              <a:lnSpc>
                <a:spcPts val="1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just">
              <a:lnSpc>
                <a:spcPts val="3225"/>
              </a:lnSpc>
            </a:pPr>
            <a:r>
              <a:rPr lang="en-US" sz="1350" spc="1051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9340" y="5725857"/>
            <a:ext cx="3408045" cy="15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printf(" Verified: Sum(In) == Sum(Out)\n");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1184" y="5773482"/>
            <a:ext cx="546144" cy="37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 else 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9340" y="6249732"/>
            <a:ext cx="3284925" cy="17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printf(" ERROR: Sum(In) != Sum(Out)\n");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1184" y="6325932"/>
            <a:ext cx="65580" cy="37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350" spc="1051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3038" y="6802182"/>
            <a:ext cx="4791351" cy="45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 printf(" Computational Time = %.3f ms\n\n", timeTaken);</a:t>
            </a:r>
          </a:p>
          <a:p>
            <a:pPr algn="l">
              <a:lnSpc>
                <a:spcPts val="3225"/>
              </a:lnSpc>
            </a:pPr>
            <a:r>
              <a:rPr lang="en-US" sz="1350">
                <a:solidFill>
                  <a:srgbClr val="405449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5989" y="2445485"/>
            <a:ext cx="1619298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Explanation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40128" y="2946233"/>
            <a:ext cx="4224890" cy="343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4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Summation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It calculates the total sum of all in- degrees and out-degrees.</a:t>
            </a:r>
          </a:p>
          <a:p>
            <a:pPr algn="just">
              <a:lnSpc>
                <a:spcPts val="30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Verification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Critically, it checks if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Sum(In-</a:t>
            </a:r>
          </a:p>
          <a:p>
            <a:pPr algn="just">
              <a:lnSpc>
                <a:spcPts val="1274"/>
              </a:lnSpc>
            </a:pP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degree) equals Sum(Out-degree)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. This is a </a:t>
            </a:r>
          </a:p>
          <a:p>
            <a:pPr algn="just">
              <a:lnSpc>
                <a:spcPts val="29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fundamental property of any directed graph, as </a:t>
            </a:r>
          </a:p>
          <a:p>
            <a:pPr algn="just">
              <a:lnSpc>
                <a:spcPts val="14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every edge contributes exactly one to an in-</a:t>
            </a:r>
          </a:p>
          <a:p>
            <a:pPr algn="just">
              <a:lnSpc>
                <a:spcPts val="29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degree and one to an out-degree across the entire </a:t>
            </a:r>
          </a:p>
          <a:p>
            <a:pPr algn="just">
              <a:lnSpc>
                <a:spcPts val="14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graph.</a:t>
            </a:r>
          </a:p>
          <a:p>
            <a:pPr algn="just">
              <a:lnSpc>
                <a:spcPts val="3375"/>
              </a:lnSpc>
            </a:pP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Output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: The program then prints the graph size </a:t>
            </a:r>
          </a:p>
          <a:p>
            <a:pPr algn="just">
              <a:lnSpc>
                <a:spcPts val="12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(n), the calculated sums, the verification status, </a:t>
            </a:r>
          </a:p>
          <a:p>
            <a:pPr algn="just">
              <a:lnSpc>
                <a:spcPts val="29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and the measured computational time for that </a:t>
            </a:r>
          </a:p>
          <a:p>
            <a:pPr algn="just">
              <a:lnSpc>
                <a:spcPts val="172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specific 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5989" y="6432383"/>
            <a:ext cx="3849919" cy="65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This section provides the concrete results and </a:t>
            </a:r>
          </a:p>
          <a:p>
            <a:pPr algn="l">
              <a:lnSpc>
                <a:spcPts val="9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validates the graph property.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61919"/>
            <a:ext cx="11556997" cy="9242422"/>
            <a:chOff x="0" y="0"/>
            <a:chExt cx="11557000" cy="92424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9115425"/>
            </a:xfrm>
            <a:custGeom>
              <a:avLst/>
              <a:gdLst/>
              <a:ahLst/>
              <a:cxnLst/>
              <a:rect l="l" t="t" r="r" b="b"/>
              <a:pathLst>
                <a:path w="11430000" h="9115425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9115425"/>
            </a:xfrm>
            <a:custGeom>
              <a:avLst/>
              <a:gdLst/>
              <a:ahLst/>
              <a:cxnLst/>
              <a:rect l="l" t="t" r="r" b="b"/>
              <a:pathLst>
                <a:path w="11430000" h="9115425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9115425"/>
            </a:xfrm>
            <a:custGeom>
              <a:avLst/>
              <a:gdLst/>
              <a:ahLst/>
              <a:cxnLst/>
              <a:rect l="l" t="t" r="r" b="b"/>
              <a:pathLst>
                <a:path w="11430000" h="9115425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E1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9115425"/>
            </a:xfrm>
            <a:custGeom>
              <a:avLst/>
              <a:gdLst/>
              <a:ahLst/>
              <a:cxnLst/>
              <a:rect l="l" t="t" r="r" b="b"/>
              <a:pathLst>
                <a:path w="11430000" h="9115425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E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9115425"/>
            </a:xfrm>
            <a:custGeom>
              <a:avLst/>
              <a:gdLst/>
              <a:ahLst/>
              <a:cxnLst/>
              <a:rect l="l" t="t" r="r" b="b"/>
              <a:pathLst>
                <a:path w="11430000" h="9115425">
                  <a:moveTo>
                    <a:pt x="0" y="0"/>
                  </a:moveTo>
                  <a:lnTo>
                    <a:pt x="0" y="9115425"/>
                  </a:lnTo>
                  <a:lnTo>
                    <a:pt x="11430000" y="9115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00075" y="2200275"/>
            <a:ext cx="3133725" cy="5791200"/>
            <a:chOff x="0" y="0"/>
            <a:chExt cx="4178300" cy="7721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78427" cy="7721600"/>
            </a:xfrm>
            <a:custGeom>
              <a:avLst/>
              <a:gdLst/>
              <a:ahLst/>
              <a:cxnLst/>
              <a:rect l="l" t="t" r="r" b="b"/>
              <a:pathLst>
                <a:path w="4178427" h="7721600">
                  <a:moveTo>
                    <a:pt x="171196" y="0"/>
                  </a:moveTo>
                  <a:cubicBezTo>
                    <a:pt x="148590" y="0"/>
                    <a:pt x="126746" y="4445"/>
                    <a:pt x="105918" y="13081"/>
                  </a:cubicBezTo>
                  <a:cubicBezTo>
                    <a:pt x="85090" y="21717"/>
                    <a:pt x="66294" y="34163"/>
                    <a:pt x="50165" y="50165"/>
                  </a:cubicBezTo>
                  <a:cubicBezTo>
                    <a:pt x="34036" y="66167"/>
                    <a:pt x="21717" y="84836"/>
                    <a:pt x="13081" y="105791"/>
                  </a:cubicBezTo>
                  <a:cubicBezTo>
                    <a:pt x="4445" y="126746"/>
                    <a:pt x="0" y="148717"/>
                    <a:pt x="0" y="171450"/>
                  </a:cubicBezTo>
                  <a:lnTo>
                    <a:pt x="0" y="7550150"/>
                  </a:lnTo>
                  <a:cubicBezTo>
                    <a:pt x="0" y="7572883"/>
                    <a:pt x="4318" y="7594727"/>
                    <a:pt x="13081" y="7615809"/>
                  </a:cubicBezTo>
                  <a:cubicBezTo>
                    <a:pt x="21844" y="7636890"/>
                    <a:pt x="34163" y="7655306"/>
                    <a:pt x="50292" y="7671435"/>
                  </a:cubicBezTo>
                  <a:cubicBezTo>
                    <a:pt x="66421" y="7687564"/>
                    <a:pt x="84963" y="7699883"/>
                    <a:pt x="105918" y="7708646"/>
                  </a:cubicBezTo>
                  <a:cubicBezTo>
                    <a:pt x="126873" y="7717409"/>
                    <a:pt x="148717" y="7721600"/>
                    <a:pt x="171450" y="7721600"/>
                  </a:cubicBezTo>
                  <a:lnTo>
                    <a:pt x="4006850" y="7721600"/>
                  </a:lnTo>
                  <a:cubicBezTo>
                    <a:pt x="4029583" y="7721600"/>
                    <a:pt x="4051427" y="7717282"/>
                    <a:pt x="4072509" y="7708519"/>
                  </a:cubicBezTo>
                  <a:cubicBezTo>
                    <a:pt x="4093591" y="7699756"/>
                    <a:pt x="4112006" y="7687437"/>
                    <a:pt x="4128135" y="7671308"/>
                  </a:cubicBezTo>
                  <a:cubicBezTo>
                    <a:pt x="4144264" y="7655178"/>
                    <a:pt x="4156583" y="7636637"/>
                    <a:pt x="4165346" y="7615682"/>
                  </a:cubicBezTo>
                  <a:cubicBezTo>
                    <a:pt x="4174109" y="7594726"/>
                    <a:pt x="4178427" y="7572756"/>
                    <a:pt x="4178427" y="7550023"/>
                  </a:cubicBezTo>
                  <a:lnTo>
                    <a:pt x="4178427" y="171450"/>
                  </a:lnTo>
                  <a:cubicBezTo>
                    <a:pt x="4178427" y="148717"/>
                    <a:pt x="4174109" y="126873"/>
                    <a:pt x="4165346" y="105791"/>
                  </a:cubicBezTo>
                  <a:cubicBezTo>
                    <a:pt x="4156583" y="84709"/>
                    <a:pt x="4144264" y="66294"/>
                    <a:pt x="4128135" y="50165"/>
                  </a:cubicBezTo>
                  <a:cubicBezTo>
                    <a:pt x="4112006" y="34036"/>
                    <a:pt x="4093464" y="21717"/>
                    <a:pt x="4072509" y="12954"/>
                  </a:cubicBezTo>
                  <a:cubicBezTo>
                    <a:pt x="4051554" y="4191"/>
                    <a:pt x="4029837" y="0"/>
                    <a:pt x="4007104" y="0"/>
                  </a:cubicBezTo>
                  <a:close/>
                </a:path>
              </a:pathLst>
            </a:custGeom>
            <a:blipFill>
              <a:blip r:embed="rId2"/>
              <a:stretch>
                <a:fillRect r="3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4200525" y="2771775"/>
            <a:ext cx="47625" cy="47625"/>
            <a:chOff x="0" y="0"/>
            <a:chExt cx="47625" cy="47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200525" y="3105150"/>
            <a:ext cx="47625" cy="47625"/>
            <a:chOff x="0" y="0"/>
            <a:chExt cx="47625" cy="47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4200525" y="3457575"/>
            <a:ext cx="47625" cy="47625"/>
            <a:chOff x="0" y="0"/>
            <a:chExt cx="47625" cy="47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200525" y="3790950"/>
            <a:ext cx="47625" cy="47625"/>
            <a:chOff x="0" y="0"/>
            <a:chExt cx="47625" cy="47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739062" y="2847975"/>
            <a:ext cx="47625" cy="47625"/>
            <a:chOff x="0" y="0"/>
            <a:chExt cx="47625" cy="47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7739062" y="3152775"/>
            <a:ext cx="47625" cy="47625"/>
            <a:chOff x="0" y="0"/>
            <a:chExt cx="47625" cy="476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7762875" y="3886200"/>
            <a:ext cx="47625" cy="47625"/>
            <a:chOff x="0" y="0"/>
            <a:chExt cx="47625" cy="476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7715250" y="3519488"/>
            <a:ext cx="47625" cy="47625"/>
            <a:chOff x="0" y="0"/>
            <a:chExt cx="47625" cy="476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600075" y="728062"/>
            <a:ext cx="8337156" cy="28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Experimental Result : Sample Output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1389" y="1129989"/>
            <a:ext cx="43720" cy="37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33735" y="2596839"/>
            <a:ext cx="2483977" cy="624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Sum of In-degrees =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499495 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Sum of Out-degrees =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499495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93178" y="3244539"/>
            <a:ext cx="2565092" cy="33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 Verified: Sum(In) == Sum(Out)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33735" y="3644589"/>
            <a:ext cx="2728674" cy="272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Computational Time = 42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.000 ms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0075" y="1244289"/>
            <a:ext cx="9855317" cy="25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Here are sample outputs demonstrating the program's execution for different graph sizes,confirming the degree sum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0075" y="1520514"/>
            <a:ext cx="3906888" cy="25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property and showing the computational time.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98501" y="2667000"/>
            <a:ext cx="2556891" cy="624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Sum of In-degrees =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1999045 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Sum of Out-degrees =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1999045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5250" y="3270895"/>
            <a:ext cx="2782929" cy="108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25"/>
              </a:lnSpc>
            </a:pP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Verified: Sum(In) == Sum(Out)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Computational Time = 131.000 ms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59596" y="2153241"/>
            <a:ext cx="1722901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For n = 1000: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10500" y="2162175"/>
            <a:ext cx="176343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For n = 2000: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87097" y="5562552"/>
            <a:ext cx="7382486" cy="479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Repeat the steps for n = 3000, 4000, 5000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7700" y="2939890"/>
            <a:ext cx="47625" cy="47625"/>
            <a:chOff x="0" y="0"/>
            <a:chExt cx="47625" cy="476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47700" y="3292315"/>
            <a:ext cx="47625" cy="47625"/>
            <a:chOff x="0" y="0"/>
            <a:chExt cx="47625" cy="476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47700" y="3625690"/>
            <a:ext cx="47625" cy="47625"/>
            <a:chOff x="0" y="0"/>
            <a:chExt cx="47625" cy="47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47700" y="4254340"/>
            <a:ext cx="47625" cy="47625"/>
            <a:chOff x="0" y="0"/>
            <a:chExt cx="47625" cy="47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47700" y="4587715"/>
            <a:ext cx="47625" cy="47625"/>
            <a:chOff x="0" y="0"/>
            <a:chExt cx="47625" cy="47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19200" y="2835115"/>
            <a:ext cx="1381125" cy="228600"/>
            <a:chOff x="0" y="0"/>
            <a:chExt cx="1381125" cy="228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0998" cy="228600"/>
            </a:xfrm>
            <a:custGeom>
              <a:avLst/>
              <a:gdLst/>
              <a:ahLst/>
              <a:cxnLst/>
              <a:rect l="l" t="t" r="r" b="b"/>
              <a:pathLst>
                <a:path w="1380998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359662" y="0"/>
                  </a:lnTo>
                  <a:cubicBezTo>
                    <a:pt x="1362456" y="0"/>
                    <a:pt x="1365250" y="508"/>
                    <a:pt x="1367790" y="1651"/>
                  </a:cubicBezTo>
                  <a:cubicBezTo>
                    <a:pt x="1370330" y="2794"/>
                    <a:pt x="1372743" y="4318"/>
                    <a:pt x="1374775" y="6350"/>
                  </a:cubicBezTo>
                  <a:cubicBezTo>
                    <a:pt x="1376807" y="8382"/>
                    <a:pt x="1378331" y="10668"/>
                    <a:pt x="1379347" y="13335"/>
                  </a:cubicBezTo>
                  <a:cubicBezTo>
                    <a:pt x="1380363" y="16002"/>
                    <a:pt x="1380998" y="18669"/>
                    <a:pt x="1380998" y="21590"/>
                  </a:cubicBezTo>
                  <a:lnTo>
                    <a:pt x="1380998" y="207137"/>
                  </a:lnTo>
                  <a:cubicBezTo>
                    <a:pt x="1380998" y="209931"/>
                    <a:pt x="1380490" y="212725"/>
                    <a:pt x="1379347" y="215265"/>
                  </a:cubicBezTo>
                  <a:cubicBezTo>
                    <a:pt x="1378204" y="217805"/>
                    <a:pt x="1376680" y="220218"/>
                    <a:pt x="1374775" y="222250"/>
                  </a:cubicBezTo>
                  <a:cubicBezTo>
                    <a:pt x="1372870" y="224282"/>
                    <a:pt x="1370457" y="225806"/>
                    <a:pt x="1367790" y="226949"/>
                  </a:cubicBezTo>
                  <a:cubicBezTo>
                    <a:pt x="1365123" y="228092"/>
                    <a:pt x="1362456" y="228600"/>
                    <a:pt x="13596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524" y="215265"/>
                  </a:cubicBezTo>
                  <a:cubicBezTo>
                    <a:pt x="381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828800" y="3816190"/>
            <a:ext cx="57150" cy="228600"/>
            <a:chOff x="0" y="0"/>
            <a:chExt cx="57150" cy="228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023" cy="228600"/>
            </a:xfrm>
            <a:custGeom>
              <a:avLst/>
              <a:gdLst/>
              <a:ahLst/>
              <a:cxnLst/>
              <a:rect l="l" t="t" r="r" b="b"/>
              <a:pathLst>
                <a:path w="57023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5687" y="0"/>
                  </a:lnTo>
                  <a:cubicBezTo>
                    <a:pt x="38481" y="0"/>
                    <a:pt x="41275" y="508"/>
                    <a:pt x="43815" y="1651"/>
                  </a:cubicBezTo>
                  <a:cubicBezTo>
                    <a:pt x="46355" y="2794"/>
                    <a:pt x="48768" y="4318"/>
                    <a:pt x="50800" y="6350"/>
                  </a:cubicBezTo>
                  <a:cubicBezTo>
                    <a:pt x="52832" y="8382"/>
                    <a:pt x="54356" y="10668"/>
                    <a:pt x="55372" y="13335"/>
                  </a:cubicBezTo>
                  <a:cubicBezTo>
                    <a:pt x="56388" y="16002"/>
                    <a:pt x="57023" y="18669"/>
                    <a:pt x="57023" y="21590"/>
                  </a:cubicBezTo>
                  <a:lnTo>
                    <a:pt x="57023" y="207137"/>
                  </a:lnTo>
                  <a:cubicBezTo>
                    <a:pt x="57023" y="209931"/>
                    <a:pt x="56515" y="212725"/>
                    <a:pt x="55372" y="215265"/>
                  </a:cubicBezTo>
                  <a:cubicBezTo>
                    <a:pt x="54229" y="217805"/>
                    <a:pt x="52705" y="220218"/>
                    <a:pt x="50800" y="222250"/>
                  </a:cubicBezTo>
                  <a:cubicBezTo>
                    <a:pt x="48895" y="224282"/>
                    <a:pt x="46482" y="225806"/>
                    <a:pt x="43815" y="226949"/>
                  </a:cubicBezTo>
                  <a:cubicBezTo>
                    <a:pt x="41148" y="228092"/>
                    <a:pt x="38481" y="228600"/>
                    <a:pt x="3568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410075" y="3187540"/>
            <a:ext cx="57150" cy="228600"/>
            <a:chOff x="0" y="0"/>
            <a:chExt cx="57150" cy="228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150" cy="228600"/>
            </a:xfrm>
            <a:custGeom>
              <a:avLst/>
              <a:gdLst/>
              <a:ahLst/>
              <a:cxnLst/>
              <a:rect l="l" t="t" r="r" b="b"/>
              <a:pathLst>
                <a:path w="57150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5687" y="0"/>
                  </a:lnTo>
                  <a:cubicBezTo>
                    <a:pt x="38481" y="0"/>
                    <a:pt x="41275" y="508"/>
                    <a:pt x="43942" y="1651"/>
                  </a:cubicBezTo>
                  <a:cubicBezTo>
                    <a:pt x="46609" y="2794"/>
                    <a:pt x="48895" y="4318"/>
                    <a:pt x="50927" y="6350"/>
                  </a:cubicBezTo>
                  <a:cubicBezTo>
                    <a:pt x="52959" y="8382"/>
                    <a:pt x="54483" y="10668"/>
                    <a:pt x="55499" y="13335"/>
                  </a:cubicBezTo>
                  <a:cubicBezTo>
                    <a:pt x="56515" y="16002"/>
                    <a:pt x="57150" y="18669"/>
                    <a:pt x="57150" y="21590"/>
                  </a:cubicBezTo>
                  <a:lnTo>
                    <a:pt x="57150" y="207137"/>
                  </a:lnTo>
                  <a:cubicBezTo>
                    <a:pt x="57150" y="209931"/>
                    <a:pt x="56642" y="212725"/>
                    <a:pt x="55499" y="215265"/>
                  </a:cubicBezTo>
                  <a:cubicBezTo>
                    <a:pt x="54356" y="217805"/>
                    <a:pt x="52832" y="220218"/>
                    <a:pt x="50927" y="222250"/>
                  </a:cubicBezTo>
                  <a:cubicBezTo>
                    <a:pt x="49022" y="224282"/>
                    <a:pt x="46609" y="225806"/>
                    <a:pt x="43942" y="226949"/>
                  </a:cubicBezTo>
                  <a:cubicBezTo>
                    <a:pt x="41275" y="228092"/>
                    <a:pt x="38608" y="228600"/>
                    <a:pt x="35687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5934075" y="2835115"/>
            <a:ext cx="4905375" cy="3038475"/>
            <a:chOff x="0" y="0"/>
            <a:chExt cx="6540500" cy="4051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40628" cy="4051300"/>
            </a:xfrm>
            <a:custGeom>
              <a:avLst/>
              <a:gdLst/>
              <a:ahLst/>
              <a:cxnLst/>
              <a:rect l="l" t="t" r="r" b="b"/>
              <a:pathLst>
                <a:path w="6540628" h="4051300">
                  <a:moveTo>
                    <a:pt x="171069" y="0"/>
                  </a:moveTo>
                  <a:cubicBezTo>
                    <a:pt x="148463" y="0"/>
                    <a:pt x="126746" y="4445"/>
                    <a:pt x="105791" y="13081"/>
                  </a:cubicBezTo>
                  <a:cubicBezTo>
                    <a:pt x="84836" y="21717"/>
                    <a:pt x="66294" y="34163"/>
                    <a:pt x="50165" y="50165"/>
                  </a:cubicBezTo>
                  <a:cubicBezTo>
                    <a:pt x="34036" y="66167"/>
                    <a:pt x="21717" y="84836"/>
                    <a:pt x="13081" y="105791"/>
                  </a:cubicBezTo>
                  <a:cubicBezTo>
                    <a:pt x="4445" y="126746"/>
                    <a:pt x="0" y="148717"/>
                    <a:pt x="0" y="171450"/>
                  </a:cubicBezTo>
                  <a:lnTo>
                    <a:pt x="0" y="3879850"/>
                  </a:lnTo>
                  <a:cubicBezTo>
                    <a:pt x="0" y="3902583"/>
                    <a:pt x="4318" y="3924427"/>
                    <a:pt x="13081" y="3945509"/>
                  </a:cubicBezTo>
                  <a:cubicBezTo>
                    <a:pt x="21844" y="3966591"/>
                    <a:pt x="34163" y="3985006"/>
                    <a:pt x="50292" y="4001135"/>
                  </a:cubicBezTo>
                  <a:cubicBezTo>
                    <a:pt x="66421" y="4017264"/>
                    <a:pt x="84963" y="4029583"/>
                    <a:pt x="105918" y="4038346"/>
                  </a:cubicBezTo>
                  <a:cubicBezTo>
                    <a:pt x="126873" y="4047109"/>
                    <a:pt x="148717" y="4051300"/>
                    <a:pt x="171450" y="4051300"/>
                  </a:cubicBezTo>
                  <a:lnTo>
                    <a:pt x="6369050" y="4051300"/>
                  </a:lnTo>
                  <a:cubicBezTo>
                    <a:pt x="6391783" y="4051300"/>
                    <a:pt x="6413627" y="4046982"/>
                    <a:pt x="6434709" y="4038219"/>
                  </a:cubicBezTo>
                  <a:cubicBezTo>
                    <a:pt x="6455791" y="4029456"/>
                    <a:pt x="6474206" y="4017137"/>
                    <a:pt x="6490335" y="4001008"/>
                  </a:cubicBezTo>
                  <a:cubicBezTo>
                    <a:pt x="6506465" y="3984879"/>
                    <a:pt x="6518783" y="3966337"/>
                    <a:pt x="6527547" y="3945382"/>
                  </a:cubicBezTo>
                  <a:cubicBezTo>
                    <a:pt x="6536310" y="3924427"/>
                    <a:pt x="6540628" y="3902456"/>
                    <a:pt x="6540628" y="3879723"/>
                  </a:cubicBezTo>
                  <a:lnTo>
                    <a:pt x="6540628" y="171450"/>
                  </a:lnTo>
                  <a:cubicBezTo>
                    <a:pt x="6540628" y="148717"/>
                    <a:pt x="6536310" y="126873"/>
                    <a:pt x="6527547" y="105791"/>
                  </a:cubicBezTo>
                  <a:cubicBezTo>
                    <a:pt x="6518783" y="84709"/>
                    <a:pt x="6506465" y="66294"/>
                    <a:pt x="6490336" y="50165"/>
                  </a:cubicBezTo>
                  <a:cubicBezTo>
                    <a:pt x="6474206" y="34036"/>
                    <a:pt x="6455664" y="21717"/>
                    <a:pt x="6434710" y="12954"/>
                  </a:cubicBezTo>
                  <a:cubicBezTo>
                    <a:pt x="6413755" y="4191"/>
                    <a:pt x="6392037" y="0"/>
                    <a:pt x="6369431" y="0"/>
                  </a:cubicBezTo>
                  <a:close/>
                </a:path>
              </a:pathLst>
            </a:custGeom>
            <a:blipFill>
              <a:blip r:embed="rId2"/>
              <a:stretch>
                <a:fillRect r="1"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8877300" y="6511765"/>
            <a:ext cx="123825" cy="228600"/>
            <a:chOff x="0" y="0"/>
            <a:chExt cx="123825" cy="228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3952" cy="228600"/>
            </a:xfrm>
            <a:custGeom>
              <a:avLst/>
              <a:gdLst/>
              <a:ahLst/>
              <a:cxnLst/>
              <a:rect l="l" t="t" r="r" b="b"/>
              <a:pathLst>
                <a:path w="123952" h="228600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102362" y="0"/>
                  </a:lnTo>
                  <a:cubicBezTo>
                    <a:pt x="105156" y="0"/>
                    <a:pt x="107950" y="508"/>
                    <a:pt x="110617" y="1651"/>
                  </a:cubicBezTo>
                  <a:cubicBezTo>
                    <a:pt x="113284" y="2794"/>
                    <a:pt x="115570" y="4318"/>
                    <a:pt x="117602" y="6350"/>
                  </a:cubicBezTo>
                  <a:cubicBezTo>
                    <a:pt x="119634" y="8382"/>
                    <a:pt x="121158" y="10668"/>
                    <a:pt x="122301" y="13335"/>
                  </a:cubicBezTo>
                  <a:cubicBezTo>
                    <a:pt x="123444" y="16002"/>
                    <a:pt x="123952" y="18669"/>
                    <a:pt x="123952" y="21590"/>
                  </a:cubicBezTo>
                  <a:lnTo>
                    <a:pt x="123952" y="207137"/>
                  </a:lnTo>
                  <a:cubicBezTo>
                    <a:pt x="123952" y="209931"/>
                    <a:pt x="123444" y="212725"/>
                    <a:pt x="122301" y="215265"/>
                  </a:cubicBezTo>
                  <a:cubicBezTo>
                    <a:pt x="121158" y="217805"/>
                    <a:pt x="119634" y="220218"/>
                    <a:pt x="117602" y="222250"/>
                  </a:cubicBezTo>
                  <a:cubicBezTo>
                    <a:pt x="115570" y="224282"/>
                    <a:pt x="113284" y="225806"/>
                    <a:pt x="110617" y="226949"/>
                  </a:cubicBezTo>
                  <a:cubicBezTo>
                    <a:pt x="107950" y="228092"/>
                    <a:pt x="105283" y="228600"/>
                    <a:pt x="102362" y="228600"/>
                  </a:cubicBezTo>
                  <a:lnTo>
                    <a:pt x="21463" y="228600"/>
                  </a:lnTo>
                  <a:cubicBezTo>
                    <a:pt x="18669" y="228600"/>
                    <a:pt x="15875" y="228092"/>
                    <a:pt x="13208" y="226949"/>
                  </a:cubicBezTo>
                  <a:cubicBezTo>
                    <a:pt x="10541" y="225806"/>
                    <a:pt x="8255" y="224282"/>
                    <a:pt x="6223" y="222250"/>
                  </a:cubicBezTo>
                  <a:cubicBezTo>
                    <a:pt x="4191" y="220218"/>
                    <a:pt x="2667" y="217932"/>
                    <a:pt x="1651" y="215265"/>
                  </a:cubicBezTo>
                  <a:cubicBezTo>
                    <a:pt x="635" y="212598"/>
                    <a:pt x="0" y="210058"/>
                    <a:pt x="0" y="207137"/>
                  </a:cubicBezTo>
                </a:path>
              </a:pathLst>
            </a:custGeom>
            <a:solidFill>
              <a:srgbClr val="EDF2E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00075" y="1220027"/>
            <a:ext cx="9707328" cy="67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7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Time Complexity: Theory Meets  Experiment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4702" y="2083230"/>
            <a:ext cx="54302" cy="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0075" y="2216580"/>
            <a:ext cx="2741095" cy="41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Theoretical</a:t>
            </a:r>
            <a:r>
              <a:rPr lang="en-US" sz="2025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33502" y="2698278"/>
            <a:ext cx="43720" cy="37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33627" y="2292780"/>
            <a:ext cx="3245663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Experimental</a:t>
            </a:r>
            <a:r>
              <a:rPr lang="en-US" sz="2025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  <a:r>
              <a:rPr lang="en-US" sz="20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Validation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4214" y="2710108"/>
            <a:ext cx="4391920" cy="31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 computeDegrees function involves nested loops.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4214" y="3062534"/>
            <a:ext cx="4699873" cy="194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 outer loop runs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times (for each node i).</a:t>
            </a:r>
          </a:p>
          <a:p>
            <a:pPr algn="l">
              <a:lnSpc>
                <a:spcPts val="24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 inner loop runs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times (for each possible </a:t>
            </a:r>
          </a:p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connection j).</a:t>
            </a:r>
          </a:p>
          <a:p>
            <a:pPr algn="l">
              <a:lnSpc>
                <a:spcPts val="30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Each operation inside the inner loop is constant time.</a:t>
            </a:r>
          </a:p>
          <a:p>
            <a:pPr algn="l">
              <a:lnSpc>
                <a:spcPts val="217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Therefore, the total time complexity is proportional to </a:t>
            </a:r>
            <a:r>
              <a:rPr lang="en-US" sz="1350" spc="16">
                <a:solidFill>
                  <a:srgbClr val="438951"/>
                </a:solidFill>
                <a:latin typeface="Open Sans 1"/>
                <a:ea typeface="Open Sans 1"/>
                <a:cs typeface="Open Sans 1"/>
                <a:sym typeface="Open Sans 1"/>
              </a:rPr>
              <a:t>n * n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, which is </a:t>
            </a:r>
            <a:r>
              <a:rPr lang="en-US" sz="1350" b="1" spc="16">
                <a:solidFill>
                  <a:srgbClr val="43895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O(n²)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3618" y="6443908"/>
            <a:ext cx="5039916" cy="11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 line graph clearly shows that as n increases, the computational time grows quadratically, precisely matching the </a:t>
            </a:r>
            <a:r>
              <a:rPr lang="en-US" sz="1350" b="1" spc="16">
                <a:solidFill>
                  <a:srgbClr val="43895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O(n²)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theoretical prediction. This confirms the efficiency of our algorithm.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7700" y="4425790"/>
            <a:ext cx="47625" cy="47625"/>
            <a:chOff x="0" y="0"/>
            <a:chExt cx="47625" cy="476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47700" y="4759165"/>
            <a:ext cx="47625" cy="47625"/>
            <a:chOff x="0" y="0"/>
            <a:chExt cx="47625" cy="476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47700" y="5092540"/>
            <a:ext cx="47625" cy="47625"/>
            <a:chOff x="0" y="0"/>
            <a:chExt cx="47625" cy="47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47700" y="5425915"/>
            <a:ext cx="47625" cy="47625"/>
            <a:chOff x="0" y="0"/>
            <a:chExt cx="47625" cy="47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752" cy="47752"/>
            </a:xfrm>
            <a:custGeom>
              <a:avLst/>
              <a:gdLst/>
              <a:ahLst/>
              <a:cxnLst/>
              <a:rect l="l" t="t" r="r" b="b"/>
              <a:pathLst>
                <a:path w="47752" h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271" y="42926"/>
                    <a:pt x="6985" y="40640"/>
                  </a:cubicBezTo>
                  <a:cubicBezTo>
                    <a:pt x="4699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</a:path>
              </a:pathLst>
            </a:custGeom>
            <a:solidFill>
              <a:srgbClr val="40544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7381075" y="0"/>
            <a:ext cx="4071241" cy="9505950"/>
          </a:xfrm>
          <a:custGeom>
            <a:avLst/>
            <a:gdLst/>
            <a:ahLst/>
            <a:cxnLst/>
            <a:rect l="l" t="t" r="r" b="b"/>
            <a:pathLst>
              <a:path w="4071241" h="6622034">
                <a:moveTo>
                  <a:pt x="0" y="0"/>
                </a:moveTo>
                <a:lnTo>
                  <a:pt x="4071241" y="0"/>
                </a:lnTo>
                <a:lnTo>
                  <a:pt x="4071241" y="6622034"/>
                </a:lnTo>
                <a:lnTo>
                  <a:pt x="0" y="662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0" r="-208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00075" y="3769727"/>
            <a:ext cx="2457279" cy="28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337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0104" y="4517553"/>
            <a:ext cx="43720" cy="37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214" y="4250853"/>
            <a:ext cx="5100971" cy="31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The program verifies </a:t>
            </a: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Sum(In-degree) = Sum(Out-degree)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4214" y="4584228"/>
            <a:ext cx="2033006" cy="31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Time complexity:</a:t>
            </a:r>
            <a:r>
              <a:rPr lang="en-US" sz="1350" b="1" spc="16">
                <a:solidFill>
                  <a:srgbClr val="4054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O(n²)</a:t>
            </a: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4214" y="4917603"/>
            <a:ext cx="4334942" cy="6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 spc="16">
                <a:solidFill>
                  <a:srgbClr val="405449"/>
                </a:solidFill>
                <a:latin typeface="Open Sans 1"/>
                <a:ea typeface="Open Sans 1"/>
                <a:cs typeface="Open Sans 1"/>
                <a:sym typeface="Open Sans 1"/>
              </a:rPr>
              <a:t>Experimental results agree with theoretical analysis. Scales correctly up to n = 5000.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1452</Words>
  <Application>Microsoft Office PowerPoint</Application>
  <PresentationFormat>Custom</PresentationFormat>
  <Paragraphs>207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Open Sans 2</vt:lpstr>
      <vt:lpstr>Open Sans 1</vt:lpstr>
      <vt:lpstr>Fraunces Bold</vt:lpstr>
      <vt:lpstr>Open Sans 1 Bold</vt:lpstr>
      <vt:lpstr>Calibri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CSE106-DISCRETE-MATHEMATICS-Mini-Project-Directed-Graph.pdf</dc:title>
  <cp:lastModifiedBy>USER</cp:lastModifiedBy>
  <cp:revision>2</cp:revision>
  <dcterms:created xsi:type="dcterms:W3CDTF">2006-08-16T00:00:00Z</dcterms:created>
  <dcterms:modified xsi:type="dcterms:W3CDTF">2025-09-03T15:40:32Z</dcterms:modified>
  <dc:identifier>DAGx5uCpXRg</dc:identifier>
</cp:coreProperties>
</file>